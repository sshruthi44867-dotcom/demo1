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25"/>
  </p:notesMasterIdLst>
  <p:sldIdLst>
    <p:sldId id="256" r:id="rId2"/>
    <p:sldId id="306" r:id="rId3"/>
    <p:sldId id="267" r:id="rId4"/>
    <p:sldId id="259" r:id="rId5"/>
    <p:sldId id="261" r:id="rId6"/>
    <p:sldId id="263" r:id="rId7"/>
    <p:sldId id="266" r:id="rId8"/>
    <p:sldId id="268" r:id="rId9"/>
    <p:sldId id="269" r:id="rId10"/>
    <p:sldId id="271" r:id="rId11"/>
    <p:sldId id="277" r:id="rId12"/>
    <p:sldId id="278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4" r:id="rId21"/>
    <p:sldId id="305" r:id="rId22"/>
    <p:sldId id="290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211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DE04A-298B-45A2-BEA3-7226AED24443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51A071-B190-4410-9BDA-B6331FBE78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0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06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69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68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8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49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52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175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88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36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5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32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94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908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285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190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09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8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4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 descr="C:\Users\PVOFFICE\Desktop\Padmavani Educational Institutions 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33172"/>
            <a:ext cx="6985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10" descr="D:\naac logo pv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562" y="408566"/>
            <a:ext cx="654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667001" y="324622"/>
            <a:ext cx="7328687" cy="7514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b="1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PADMAVANI ARTS &amp; SCIENCE COLLEGE FOR WOMEN AUTONOMOUS           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(Affiliated to </a:t>
            </a:r>
            <a:r>
              <a:rPr lang="en-GB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Periyar</a:t>
            </a:r>
            <a:r>
              <a:rPr lang="en-GB" sz="1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University, Salem)</a:t>
            </a: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GB" sz="1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Accredited by NAAC with A+ Grade (CGPA 3.44) </a:t>
            </a:r>
            <a:r>
              <a:rPr lang="en-GB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&amp;</a:t>
            </a:r>
            <a:r>
              <a:rPr lang="en-GB" sz="1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Cycle 2</a:t>
            </a:r>
            <a:endParaRPr lang="en-US" sz="12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0" y="1785991"/>
            <a:ext cx="6400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Algerian" panose="04020705040A02060702" pitchFamily="82" charset="0"/>
              </a:rPr>
              <a:t>Department of computer science &amp; computer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87965" y="3962400"/>
            <a:ext cx="41208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C</a:t>
            </a:r>
            <a:r>
              <a:rPr lang="en-US" sz="1600" b="1" dirty="0" smtClean="0"/>
              <a:t>.DHARANI </a:t>
            </a:r>
            <a:r>
              <a:rPr lang="en-US" sz="1600" b="1" dirty="0"/>
              <a:t>(Reg.no 24PVUCA007</a:t>
            </a:r>
            <a:r>
              <a:rPr lang="en-US" sz="1600" b="1" dirty="0" smtClean="0"/>
              <a:t>)</a:t>
            </a:r>
          </a:p>
          <a:p>
            <a:r>
              <a:rPr lang="en-US" sz="1600" b="1" dirty="0" smtClean="0"/>
              <a:t>S.SATHYAPRIYA(REG.NO 24PVUCA019)</a:t>
            </a:r>
            <a:endParaRPr lang="en-US" sz="1600" b="1" dirty="0"/>
          </a:p>
        </p:txBody>
      </p:sp>
      <p:sp>
        <p:nvSpPr>
          <p:cNvPr id="6" name="Rectangle 5"/>
          <p:cNvSpPr/>
          <p:nvPr/>
        </p:nvSpPr>
        <p:spPr>
          <a:xfrm>
            <a:off x="3422150" y="2528500"/>
            <a:ext cx="48237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Bauhaus 93" panose="04030905020B02020C02" pitchFamily="82" charset="0"/>
              </a:rPr>
              <a:t>Bachelor of computer application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81400" y="2514600"/>
            <a:ext cx="5562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smtClean="0">
                <a:latin typeface="Bernard MT Condensed" panose="02050806060905020404" pitchFamily="18" charset="0"/>
                <a:cs typeface="Times New Roman" pitchFamily="18" charset="0"/>
              </a:rPr>
              <a:t>~AI </a:t>
            </a:r>
            <a:r>
              <a:rPr lang="en-US" sz="3000" b="1" dirty="0">
                <a:latin typeface="Bernard MT Condensed" panose="02050806060905020404" pitchFamily="18" charset="0"/>
                <a:cs typeface="Times New Roman" pitchFamily="18" charset="0"/>
              </a:rPr>
              <a:t>BASED SPAM E-MAIL </a:t>
            </a:r>
            <a:r>
              <a:rPr lang="en-US" sz="3000" b="1" dirty="0" smtClean="0">
                <a:latin typeface="Bernard MT Condensed" panose="02050806060905020404" pitchFamily="18" charset="0"/>
                <a:cs typeface="Times New Roman" pitchFamily="18" charset="0"/>
              </a:rPr>
              <a:t>DETECTION~       .                   SYSTEM                   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50490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4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0" y="0"/>
            <a:ext cx="8991600" cy="3581400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90800" y="2743200"/>
            <a:ext cx="7467600" cy="2971800"/>
          </a:xfrm>
        </p:spPr>
        <p:txBody>
          <a:bodyPr>
            <a:noAutofit/>
          </a:bodyPr>
          <a:lstStyle/>
          <a:p>
            <a:r>
              <a:rPr lang="en-US" sz="2000" b="1" dirty="0"/>
              <a:t>Email spam is increasing rapidly with the growth of internet users.</a:t>
            </a:r>
            <a:r>
              <a:rPr lang="en-US" sz="2000" dirty="0"/>
              <a:t> </a:t>
            </a:r>
          </a:p>
          <a:p>
            <a:r>
              <a:rPr lang="en-US" sz="2000" b="1" dirty="0"/>
              <a:t>Spam emails may contain malicious links that can harm our systems.</a:t>
            </a:r>
            <a:r>
              <a:rPr lang="en-US" sz="2000" dirty="0"/>
              <a:t> </a:t>
            </a:r>
          </a:p>
          <a:p>
            <a:r>
              <a:rPr lang="en-US" sz="2000" b="1" dirty="0"/>
              <a:t>Machine learning helps detect and filter spam emails automatically.</a:t>
            </a:r>
            <a:r>
              <a:rPr lang="en-US" sz="2000" dirty="0"/>
              <a:t> </a:t>
            </a:r>
          </a:p>
          <a:p>
            <a:r>
              <a:rPr lang="en-US" sz="2000" b="1" dirty="0"/>
              <a:t>This project identifies spam emails using machine learning techniques.</a:t>
            </a:r>
            <a:r>
              <a:rPr lang="en-US" sz="2000" dirty="0"/>
              <a:t>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600200"/>
            <a:ext cx="7193280" cy="1051560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  <a:t>EXISTING SYSTEM</a:t>
            </a:r>
            <a:b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</a:br>
            <a:endParaRPr lang="en-US" sz="2500" b="1" dirty="0">
              <a:latin typeface="Bernard MT Condensed" panose="02050806060905020404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0" y="2895600"/>
            <a:ext cx="7239000" cy="2362200"/>
          </a:xfrm>
        </p:spPr>
        <p:txBody>
          <a:bodyPr>
            <a:noAutofit/>
          </a:bodyPr>
          <a:lstStyle/>
          <a:p>
            <a:r>
              <a:rPr lang="en-US" sz="2000" dirty="0"/>
              <a:t>Uses </a:t>
            </a:r>
            <a:r>
              <a:rPr lang="en-US" sz="2000" b="1" dirty="0"/>
              <a:t>predefined rules and known patterns</a:t>
            </a:r>
            <a:r>
              <a:rPr lang="en-US" sz="2000" dirty="0"/>
              <a:t> to detect spam and phishing emails. </a:t>
            </a:r>
          </a:p>
          <a:p>
            <a:r>
              <a:rPr lang="en-US" sz="2000" dirty="0"/>
              <a:t>Rules are created based on </a:t>
            </a:r>
            <a:r>
              <a:rPr lang="en-US" sz="2000" b="1" dirty="0"/>
              <a:t>keywords, sender domains, and message patterns</a:t>
            </a:r>
            <a:r>
              <a:rPr lang="en-US" sz="2000" dirty="0"/>
              <a:t>. </a:t>
            </a:r>
          </a:p>
          <a:p>
            <a:r>
              <a:rPr lang="en-US" sz="2000" dirty="0"/>
              <a:t>Works well for </a:t>
            </a:r>
            <a:r>
              <a:rPr lang="en-US" sz="2000" b="1" dirty="0"/>
              <a:t>known threats</a:t>
            </a:r>
            <a:r>
              <a:rPr lang="en-US" sz="2000" dirty="0"/>
              <a:t>, but may fail to detect </a:t>
            </a:r>
            <a:r>
              <a:rPr lang="en-US" sz="2000" b="1" dirty="0"/>
              <a:t>new or zero-day attacks</a:t>
            </a:r>
            <a:r>
              <a:rPr lang="en-US" sz="2000" dirty="0"/>
              <a:t>. </a:t>
            </a:r>
          </a:p>
          <a:p>
            <a:pPr lvl="0" algn="just">
              <a:lnSpc>
                <a:spcPct val="150000"/>
              </a:lnSpc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600200"/>
            <a:ext cx="7269480" cy="1051560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  <a:t>PROPOSED SYSTEM</a:t>
            </a:r>
            <a:b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</a:br>
            <a:endParaRPr lang="en-US" sz="2500" b="1" dirty="0">
              <a:latin typeface="Bernard MT Condensed" panose="02050806060905020404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43200" y="2618603"/>
            <a:ext cx="6705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An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AI-based email security system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that detects spam and phishing threats.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Emails pass through a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four-layer security pipeline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better protection.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Combines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AI analysis and firewall protection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detect sophisticated threats.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  <a:t>SYSTEM ARCHITECTURE</a:t>
            </a:r>
          </a:p>
        </p:txBody>
      </p:sp>
      <p:pic>
        <p:nvPicPr>
          <p:cNvPr id="5" name="Content Placeholder 4" descr="D:\ImmaTech 2026-2027\Mini-Project-2026-2027\Padmavani-B.Sc\AI Spam E-Mail Detection System\aik-spam-mail.png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700338" y="2701249"/>
            <a:ext cx="6799262" cy="3023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0"/>
            <a:ext cx="7269480" cy="762000"/>
          </a:xfrm>
        </p:spPr>
        <p:txBody>
          <a:bodyPr>
            <a:normAutofit/>
          </a:bodyPr>
          <a:lstStyle/>
          <a:p>
            <a:r>
              <a:rPr lang="en-US" sz="2500" b="1" dirty="0">
                <a:latin typeface="Bernard MT Condensed" panose="02050806060905020404" pitchFamily="18" charset="0"/>
                <a:cs typeface="Times New Roman" pitchFamily="18" charset="0"/>
              </a:rPr>
              <a:t>SOFTWARE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2667000"/>
            <a:ext cx="4114800" cy="3733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600" b="1" dirty="0">
                <a:latin typeface="Arial Black" panose="020B0A04020102020204" pitchFamily="34" charset="0"/>
                <a:cs typeface="Times New Roman" pitchFamily="18" charset="0"/>
              </a:rPr>
              <a:t>HARDWARE REQUIREMENTS</a:t>
            </a:r>
            <a:r>
              <a:rPr lang="en-US" sz="1600" dirty="0">
                <a:latin typeface="Arial Black" panose="020B0A04020102020204" pitchFamily="34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		: 	Pentium IV 2.4 GHz.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Hard Disk        </a:t>
            </a:r>
            <a:r>
              <a:rPr lang="en-US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500 GB.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Monitor		: 	15 VGA Color.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Mouse		: 	Logitech.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RAM		: 	4 GB.</a:t>
            </a:r>
          </a:p>
          <a:p>
            <a:pPr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19800" y="2667001"/>
            <a:ext cx="3804538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Arial Black" panose="020B0A04020102020204" pitchFamily="34" charset="0"/>
                <a:cs typeface="Times New Roman" pitchFamily="18" charset="0"/>
              </a:rPr>
              <a:t>SOFTWARE REQUIREMENTS</a:t>
            </a:r>
            <a:r>
              <a:rPr lang="en-US" sz="1600" dirty="0">
                <a:latin typeface="Arial Black" panose="020B0A04020102020204" pitchFamily="34" charset="0"/>
                <a:cs typeface="Times New Roman" pitchFamily="18" charset="0"/>
              </a:rPr>
              <a:t>:  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Operating System    : Windows-10/11 (64-bit).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Frontend	              :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Streamlit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3.6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Backend                   : 	Python 3.10 (64-bit)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Dataset	              :	E-Mail Content Dataset (CSV)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IDE Tools                 :	Visual Studio Code 1.8 (64-bit)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500" b="1" dirty="0">
                <a:latin typeface="Bodoni MT Black" panose="02070A03080606020203" pitchFamily="18" charset="0"/>
                <a:cs typeface="Times New Roman" pitchFamily="18" charset="0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Collection and Preprocessing Module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Feature Extraction Module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AI Model Selection and Implementation Module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Deployment and Continuous Learning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6096" y="1143000"/>
            <a:ext cx="3429000" cy="1600200"/>
          </a:xfrm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latin typeface="Bodoni MT Black" panose="02070A03080606020203" pitchFamily="18" charset="0"/>
                <a:cs typeface="Times New Roman" pitchFamily="18" charset="0"/>
              </a:rPr>
              <a:t>DATA COLLECTION AND PREPROCESSING MODULE</a:t>
            </a:r>
            <a:endParaRPr lang="en-GB" sz="1800" b="1" dirty="0">
              <a:latin typeface="Bodoni MT Black" panose="02070A03080606020203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476312" y="2665513"/>
            <a:ext cx="362373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The quality of training data is important for building an effective AI model.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The dataset contains emails labeled as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Spam or Ham (legitimate)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Dataset details help ensure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accuracy and transparency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in the research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76401"/>
            <a:ext cx="2971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Broadway" panose="04040905080B02020502" pitchFamily="82" charset="0"/>
                <a:cs typeface="Times New Roman" pitchFamily="18" charset="0"/>
              </a:rPr>
              <a:t>FEATURE EXTRACTION                    MODULE</a:t>
            </a:r>
            <a:endParaRPr lang="en-US" dirty="0">
              <a:latin typeface="Broadway" panose="04040905080B02020502" pitchFamily="82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075096" y="2687765"/>
            <a:ext cx="38862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Arial" panose="020B0604020202020204" pitchFamily="34" charset="0"/>
              </a:rPr>
              <a:t>*</a:t>
            </a:r>
            <a:r>
              <a:rPr lang="en-US" dirty="0">
                <a:latin typeface="Arial" panose="020B0604020202020204" pitchFamily="34" charset="0"/>
              </a:rPr>
              <a:t>Feature extraction converts text into </a:t>
            </a:r>
            <a:r>
              <a:rPr lang="en-US" b="1" dirty="0">
                <a:latin typeface="Arial" panose="020B0604020202020204" pitchFamily="34" charset="0"/>
              </a:rPr>
              <a:t>numerical data</a:t>
            </a:r>
            <a:r>
              <a:rPr lang="en-US" dirty="0">
                <a:latin typeface="Arial" panose="020B0604020202020204" pitchFamily="34" charset="0"/>
              </a:rPr>
              <a:t> that machine learning models can understand.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*Naive Bayes and SVM</a:t>
            </a:r>
            <a:r>
              <a:rPr lang="en-US" dirty="0">
                <a:latin typeface="Arial" panose="020B0604020202020204" pitchFamily="34" charset="0"/>
              </a:rPr>
              <a:t> use </a:t>
            </a:r>
            <a:r>
              <a:rPr lang="en-US" b="1" dirty="0">
                <a:latin typeface="Arial" panose="020B0604020202020204" pitchFamily="34" charset="0"/>
              </a:rPr>
              <a:t>TF-IDF</a:t>
            </a:r>
            <a:r>
              <a:rPr lang="en-US" dirty="0">
                <a:latin typeface="Arial" panose="020B0604020202020204" pitchFamily="34" charset="0"/>
              </a:rPr>
              <a:t>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Arial" panose="020B0604020202020204" pitchFamily="34" charset="0"/>
              </a:rPr>
              <a:t>*</a:t>
            </a:r>
            <a:r>
              <a:rPr lang="en-US" dirty="0">
                <a:latin typeface="Arial" panose="020B0604020202020204" pitchFamily="34" charset="0"/>
              </a:rPr>
              <a:t>while </a:t>
            </a:r>
            <a:r>
              <a:rPr lang="en-US" b="1" dirty="0">
                <a:latin typeface="Arial" panose="020B0604020202020204" pitchFamily="34" charset="0"/>
              </a:rPr>
              <a:t>Neural Networks</a:t>
            </a:r>
            <a:r>
              <a:rPr lang="en-US" dirty="0">
                <a:latin typeface="Arial" panose="020B0604020202020204" pitchFamily="34" charset="0"/>
              </a:rPr>
              <a:t> use </a:t>
            </a:r>
            <a:r>
              <a:rPr lang="en-US" b="1" dirty="0">
                <a:latin typeface="Arial" panose="020B0604020202020204" pitchFamily="34" charset="0"/>
              </a:rPr>
              <a:t>word </a:t>
            </a:r>
            <a:r>
              <a:rPr lang="en-US" b="1" dirty="0" err="1">
                <a:latin typeface="Arial" panose="020B0604020202020204" pitchFamily="34" charset="0"/>
              </a:rPr>
              <a:t>embeddings</a:t>
            </a:r>
            <a:endParaRPr lang="en-US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 such as Word2Vec and </a:t>
            </a:r>
            <a:r>
              <a:rPr lang="en-US" dirty="0" err="1">
                <a:latin typeface="Arial" panose="020B0604020202020204" pitchFamily="34" charset="0"/>
              </a:rPr>
              <a:t>GloVe</a:t>
            </a:r>
            <a:r>
              <a:rPr lang="en-US" dirty="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500" b="1" dirty="0">
                <a:latin typeface="Rockwell Extra Bold" panose="02060903040505020403" pitchFamily="18" charset="0"/>
                <a:cs typeface="Times New Roman" pitchFamily="18" charset="0"/>
              </a:rPr>
              <a:t>AI MODEL SELECTION AND IMPLEMENTATION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866" y="2743200"/>
            <a:ext cx="6248400" cy="30480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this comparative evaluation, a single instance of three different AI models was selected to illustrate the range of text classification methods that vary in complexity and capability: Naive Bayes, with KNN design, Support Vector Machine (SVM), with hyper parameterization specifying the selected kernel and C value in SVC.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SVMs are well-suited to high-dimensional feature spaces, typical of data derived from text, and are less susceptible to overfitting.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 idx="4294967295"/>
          </p:nvPr>
        </p:nvSpPr>
        <p:spPr>
          <a:xfrm>
            <a:off x="2057400" y="2362200"/>
            <a:ext cx="7407275" cy="1471613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>
                <a:latin typeface="Stencil" panose="040409050D0802020404" pitchFamily="82" charset="0"/>
                <a:cs typeface="Times New Roman" pitchFamily="18" charset="0"/>
              </a:rPr>
              <a:t>Sample output</a:t>
            </a:r>
            <a:br>
              <a:rPr lang="en-US" sz="2500" b="1" dirty="0">
                <a:latin typeface="Stencil" panose="040409050D0802020404" pitchFamily="82" charset="0"/>
                <a:cs typeface="Times New Roman" pitchFamily="18" charset="0"/>
              </a:rPr>
            </a:br>
            <a:r>
              <a:rPr lang="en-US" sz="2500" b="1" dirty="0">
                <a:solidFill>
                  <a:schemeClr val="accent1"/>
                </a:solidFill>
                <a:latin typeface="Stencil" panose="040409050D0802020404" pitchFamily="82" charset="0"/>
                <a:cs typeface="Times New Roman" pitchFamily="18" charset="0"/>
              </a:rPr>
              <a:t>______________________________________________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Run Streamlit Command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View Web Host Link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Dashboard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Select Model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Upload E-Mail Content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Analyze E-Mail Result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Another E-Mail Content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Analyze E-Mail Result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Analysis History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Export History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68033" y="2490789"/>
            <a:ext cx="646387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893800"/>
            <a:ext cx="3886200" cy="4684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200" b="1" dirty="0">
                <a:latin typeface="Bodoni MT Black" panose="02070A03080606020203" pitchFamily="18" charset="0"/>
                <a:cs typeface="Times New Roman" pitchFamily="18" charset="0"/>
              </a:rPr>
              <a:t>CONCLUSION</a:t>
            </a:r>
            <a:r>
              <a:rPr lang="en-IN" sz="25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2500" b="1" dirty="0">
                <a:latin typeface="Bodoni MT Black" panose="02070A03080606020203" pitchFamily="18" charset="0"/>
                <a:cs typeface="Times New Roman" pitchFamily="18" charset="0"/>
              </a:rPr>
              <a:t>&amp;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500" dirty="0">
                <a:latin typeface="Times New Roman" pitchFamily="18" charset="0"/>
                <a:cs typeface="Times New Roman" pitchFamily="18" charset="0"/>
              </a:rPr>
            </a:b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2590800"/>
            <a:ext cx="3505200" cy="35719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*AI and machine learning</a:t>
            </a:r>
            <a:r>
              <a:rPr lang="en-US" sz="1600" dirty="0"/>
              <a:t> help detect and remove unwanted spam emails.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* </a:t>
            </a:r>
            <a:r>
              <a:rPr lang="en-US" sz="1600" dirty="0"/>
              <a:t>Emails are classified as </a:t>
            </a:r>
            <a:r>
              <a:rPr lang="en-US" sz="1600" b="1" dirty="0"/>
              <a:t>Spam or Ham</a:t>
            </a:r>
            <a:r>
              <a:rPr lang="en-US" sz="1600" dirty="0"/>
              <a:t> based on their content and features.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*</a:t>
            </a:r>
            <a:r>
              <a:rPr lang="en-US" sz="1600" dirty="0"/>
              <a:t> </a:t>
            </a:r>
            <a:r>
              <a:rPr lang="en-US" sz="1600" b="1" dirty="0"/>
              <a:t>Accuracy and performance metrics</a:t>
            </a:r>
            <a:r>
              <a:rPr lang="en-US" sz="1600" dirty="0"/>
              <a:t> are used to evaluate the system.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72200" y="1752600"/>
            <a:ext cx="2667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Bodoni MT Black" panose="02070A03080606020203" pitchFamily="18" charset="0"/>
                <a:cs typeface="Times New Roman" pitchFamily="18" charset="0"/>
              </a:rPr>
              <a:t>FUTURE WORK</a:t>
            </a:r>
            <a:endParaRPr lang="en-US" sz="2000" dirty="0">
              <a:latin typeface="Bodoni MT Black" panose="02070A030806060202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72200" y="2667001"/>
            <a:ext cx="3733800" cy="2632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*Recipient details and file metadata</a:t>
            </a:r>
            <a:r>
              <a:rPr lang="en-US" dirty="0"/>
              <a:t> can be added to improve detection.</a:t>
            </a:r>
          </a:p>
          <a:p>
            <a:endParaRPr lang="en-US" dirty="0"/>
          </a:p>
          <a:p>
            <a:r>
              <a:rPr lang="en-US" b="1" dirty="0"/>
              <a:t> *</a:t>
            </a:r>
            <a:r>
              <a:rPr lang="en-US" dirty="0"/>
              <a:t>The system can support </a:t>
            </a:r>
            <a:r>
              <a:rPr lang="en-US" b="1" dirty="0"/>
              <a:t>multi-class email classification</a:t>
            </a:r>
            <a:r>
              <a:rPr lang="en-US" dirty="0"/>
              <a:t> for better accuracy.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*</a:t>
            </a:r>
            <a:r>
              <a:rPr lang="en-US" dirty="0"/>
              <a:t>This approach is useful for </a:t>
            </a:r>
            <a:r>
              <a:rPr lang="en-US" b="1" dirty="0"/>
              <a:t>corporate and medical email systems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2590800"/>
            <a:ext cx="7421880" cy="1051560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solidFill>
                  <a:schemeClr val="tx1"/>
                </a:solidFill>
                <a:latin typeface="Stencil" panose="040409050D0802020404" pitchFamily="82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608</TotalTime>
  <Words>497</Words>
  <Application>Microsoft Office PowerPoint</Application>
  <PresentationFormat>Widescreen</PresentationFormat>
  <Paragraphs>79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Algerian</vt:lpstr>
      <vt:lpstr>Arial</vt:lpstr>
      <vt:lpstr>Arial Black</vt:lpstr>
      <vt:lpstr>Bauhaus 93</vt:lpstr>
      <vt:lpstr>Bernard MT Condensed</vt:lpstr>
      <vt:lpstr>Bodoni MT Black</vt:lpstr>
      <vt:lpstr>Broadway</vt:lpstr>
      <vt:lpstr>Calibri</vt:lpstr>
      <vt:lpstr>Cambria</vt:lpstr>
      <vt:lpstr>Garamond</vt:lpstr>
      <vt:lpstr>Rockwell Extra Bold</vt:lpstr>
      <vt:lpstr>Stencil</vt:lpstr>
      <vt:lpstr>Times New Roman</vt:lpstr>
      <vt:lpstr>Organic</vt:lpstr>
      <vt:lpstr>PowerPoint Presentation</vt:lpstr>
      <vt:lpstr>PowerPoint Presentation</vt:lpstr>
      <vt:lpstr>ABSTRACT</vt:lpstr>
      <vt:lpstr>EXISTING SYSTEM </vt:lpstr>
      <vt:lpstr>PROPOSED SYSTEM </vt:lpstr>
      <vt:lpstr>SYSTEM ARCHITECTURE</vt:lpstr>
      <vt:lpstr>SOFTWARE SPECIFICATION</vt:lpstr>
      <vt:lpstr>MODULES</vt:lpstr>
      <vt:lpstr>DATA COLLECTION AND PREPROCESSING MODULE</vt:lpstr>
      <vt:lpstr>AI MODEL SELECTION AND IMPLEMENTATION MODULE</vt:lpstr>
      <vt:lpstr>Sample output ______________________________________________</vt:lpstr>
      <vt:lpstr>Run Streamlit Command</vt:lpstr>
      <vt:lpstr>View Web Host Link</vt:lpstr>
      <vt:lpstr>Dashboard</vt:lpstr>
      <vt:lpstr>Select Model</vt:lpstr>
      <vt:lpstr>Upload E-Mail Content</vt:lpstr>
      <vt:lpstr>Analyze E-Mail Result</vt:lpstr>
      <vt:lpstr>Another E-Mail Content</vt:lpstr>
      <vt:lpstr>Analyze E-Mail Result</vt:lpstr>
      <vt:lpstr>Analysis History</vt:lpstr>
      <vt:lpstr>Export History</vt:lpstr>
      <vt:lpstr>CONCLUSION    &amp; 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SCALABLE AND RELIABLE MATCHING SERVICE FOR CONTENT-BASED PUBLISH/SUBSCRIBE SYSTEMS</dc:title>
  <dc:creator>Thangam</dc:creator>
  <cp:lastModifiedBy>Microsoft account</cp:lastModifiedBy>
  <cp:revision>415</cp:revision>
  <dcterms:created xsi:type="dcterms:W3CDTF">2006-08-16T00:00:00Z</dcterms:created>
  <dcterms:modified xsi:type="dcterms:W3CDTF">2026-10-02T18:36:01Z</dcterms:modified>
</cp:coreProperties>
</file>