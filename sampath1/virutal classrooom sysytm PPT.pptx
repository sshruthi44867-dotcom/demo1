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5" r:id="rId1"/>
  </p:sldMasterIdLst>
  <p:sldIdLst>
    <p:sldId id="299" r:id="rId2"/>
    <p:sldId id="256" r:id="rId3"/>
    <p:sldId id="257" r:id="rId4"/>
    <p:sldId id="258" r:id="rId5"/>
    <p:sldId id="260" r:id="rId6"/>
    <p:sldId id="261" r:id="rId7"/>
    <p:sldId id="263" r:id="rId8"/>
    <p:sldId id="264" r:id="rId9"/>
    <p:sldId id="265" r:id="rId10"/>
    <p:sldId id="268" r:id="rId11"/>
    <p:sldId id="283" r:id="rId12"/>
    <p:sldId id="269" r:id="rId13"/>
    <p:sldId id="270" r:id="rId14"/>
    <p:sldId id="272" r:id="rId15"/>
    <p:sldId id="274" r:id="rId16"/>
    <p:sldId id="275" r:id="rId17"/>
    <p:sldId id="277" r:id="rId18"/>
    <p:sldId id="286" r:id="rId19"/>
    <p:sldId id="289" r:id="rId20"/>
    <p:sldId id="291" r:id="rId21"/>
    <p:sldId id="293" r:id="rId22"/>
    <p:sldId id="295" r:id="rId23"/>
    <p:sldId id="297" r:id="rId24"/>
    <p:sldId id="298" r:id="rId25"/>
    <p:sldId id="278" r:id="rId26"/>
    <p:sldId id="280"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81" autoAdjust="0"/>
    <p:restoredTop sz="94660"/>
  </p:normalViewPr>
  <p:slideViewPr>
    <p:cSldViewPr>
      <p:cViewPr>
        <p:scale>
          <a:sx n="100" d="100"/>
          <a:sy n="100" d="100"/>
        </p:scale>
        <p:origin x="29" y="-67"/>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103934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1870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757717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432997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10/2/2026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06164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10/2/2026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594935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094162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778544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681573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Date Placeholder 2"/>
          <p:cNvSpPr>
            <a:spLocks noGrp="1"/>
          </p:cNvSpPr>
          <p:nvPr>
            <p:ph type="dt" sz="half" idx="10"/>
          </p:nvPr>
        </p:nvSpPr>
        <p:spPr/>
        <p:txBody>
          <a:bodyPr/>
          <a:lstStyle/>
          <a:p>
            <a:fld id="{1D8BD707-D9CF-40AE-B4C6-C98DA3205C09}" type="datetimeFigureOut">
              <a:rPr lang="en-US" smtClean="0"/>
              <a:pPr/>
              <a:t>10/2/2026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497652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1516614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4530188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89057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33600757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312547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113703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923645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1D8BD707-D9CF-40AE-B4C6-C98DA3205C09}" type="datetimeFigureOut">
              <a:rPr lang="en-US" smtClean="0"/>
              <a:pPr/>
              <a:t>10/2/2026</a:t>
            </a:fld>
            <a:endParaRPr lang="en-US"/>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722534705"/>
      </p:ext>
    </p:extLst>
  </p:cSld>
  <p:clrMap bg1="dk1" tx1="lt1" bg2="dk2" tx2="lt2" accent1="accent1" accent2="accent2" accent3="accent3" accent4="accent4" accent5="accent5" accent6="accent6" hlink="hlink" folHlink="folHlink"/>
  <p:sldLayoutIdLst>
    <p:sldLayoutId id="2147483926" r:id="rId1"/>
    <p:sldLayoutId id="2147483927" r:id="rId2"/>
    <p:sldLayoutId id="2147483928" r:id="rId3"/>
    <p:sldLayoutId id="2147483929" r:id="rId4"/>
    <p:sldLayoutId id="2147483930" r:id="rId5"/>
    <p:sldLayoutId id="2147483931" r:id="rId6"/>
    <p:sldLayoutId id="2147483932" r:id="rId7"/>
    <p:sldLayoutId id="2147483933" r:id="rId8"/>
    <p:sldLayoutId id="2147483934" r:id="rId9"/>
    <p:sldLayoutId id="2147483935" r:id="rId10"/>
    <p:sldLayoutId id="2147483936" r:id="rId11"/>
    <p:sldLayoutId id="2147483937" r:id="rId12"/>
    <p:sldLayoutId id="2147483938" r:id="rId13"/>
    <p:sldLayoutId id="2147483939" r:id="rId14"/>
    <p:sldLayoutId id="2147483940" r:id="rId15"/>
    <p:sldLayoutId id="2147483941" r:id="rId16"/>
    <p:sldLayoutId id="2147483942"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485106" y="1752600"/>
            <a:ext cx="9526588" cy="838200"/>
          </a:xfrm>
        </p:spPr>
        <p:txBody>
          <a:bodyPr/>
          <a:lstStyle/>
          <a:p>
            <a:r>
              <a:rPr lang="en-US" sz="2400" b="1" dirty="0">
                <a:latin typeface="Algerian" panose="04020705040A02060702" pitchFamily="82" charset="0"/>
              </a:rPr>
              <a:t>Department of computer science &amp; computer application</a:t>
            </a:r>
          </a:p>
        </p:txBody>
      </p:sp>
      <p:pic>
        <p:nvPicPr>
          <p:cNvPr id="1028" name="Picture 7" descr="C:\Users\PVOFFICE\Desktop\Padmavani Educational Institutions Logo.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4450" y="304800"/>
            <a:ext cx="698500"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9" name="Picture 10" descr="D:\naac logo pv.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29800" y="255587"/>
            <a:ext cx="654050"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p:nvPr/>
        </p:nvSpPr>
        <p:spPr>
          <a:xfrm>
            <a:off x="2286000" y="329406"/>
            <a:ext cx="7924800" cy="963854"/>
          </a:xfrm>
          <a:prstGeom prst="rect">
            <a:avLst/>
          </a:prstGeom>
        </p:spPr>
        <p:txBody>
          <a:bodyPr wrap="square">
            <a:spAutoFit/>
          </a:bodyPr>
          <a:lstStyle/>
          <a:p>
            <a:pPr>
              <a:lnSpc>
                <a:spcPct val="115000"/>
              </a:lnSpc>
              <a:spcAft>
                <a:spcPts val="1000"/>
              </a:spcAft>
            </a:pPr>
            <a:r>
              <a:rPr lang="en-GB" b="1" dirty="0">
                <a:solidFill>
                  <a:schemeClr val="bg2">
                    <a:lumMod val="50000"/>
                  </a:schemeClr>
                </a:solidFill>
                <a:latin typeface="Cambria" panose="02040503050406030204" pitchFamily="18" charset="0"/>
                <a:ea typeface="Times New Roman" panose="02020603050405020304" pitchFamily="18" charset="0"/>
                <a:cs typeface="Times New Roman" panose="02020603050405020304" pitchFamily="18" charset="0"/>
              </a:rPr>
              <a:t>PADMAVANI ARTS &amp; SCIENCE COLLEGE FOR </a:t>
            </a:r>
            <a:r>
              <a:rPr lang="en-GB" b="1" dirty="0" smtClean="0">
                <a:solidFill>
                  <a:schemeClr val="bg2">
                    <a:lumMod val="50000"/>
                  </a:schemeClr>
                </a:solidFill>
                <a:latin typeface="Cambria" panose="02040503050406030204" pitchFamily="18" charset="0"/>
                <a:ea typeface="Times New Roman" panose="02020603050405020304" pitchFamily="18" charset="0"/>
                <a:cs typeface="Times New Roman" panose="02020603050405020304" pitchFamily="18" charset="0"/>
              </a:rPr>
              <a:t>WOMEN </a:t>
            </a:r>
            <a:r>
              <a:rPr lang="en-GB" b="1" dirty="0">
                <a:solidFill>
                  <a:schemeClr val="bg2">
                    <a:lumMod val="50000"/>
                  </a:schemeClr>
                </a:solidFill>
                <a:latin typeface="Cambria" panose="02040503050406030204" pitchFamily="18" charset="0"/>
                <a:ea typeface="Times New Roman" panose="02020603050405020304" pitchFamily="18" charset="0"/>
                <a:cs typeface="Times New Roman" panose="02020603050405020304" pitchFamily="18" charset="0"/>
              </a:rPr>
              <a:t>(AUTONOMOUS)</a:t>
            </a:r>
            <a:endParaRPr lang="en-US" sz="1200" dirty="0">
              <a:solidFill>
                <a:schemeClr val="bg2">
                  <a:lumMod val="50000"/>
                </a:schemeClr>
              </a:solidFill>
              <a:latin typeface="Calibri" panose="020F0502020204030204" pitchFamily="34" charset="0"/>
              <a:ea typeface="Times New Roman" panose="02020603050405020304" pitchFamily="18" charset="0"/>
              <a:cs typeface="Times New Roman" panose="02020603050405020304" pitchFamily="18" charset="0"/>
            </a:endParaRPr>
          </a:p>
          <a:p>
            <a:pPr algn="ctr">
              <a:lnSpc>
                <a:spcPct val="115000"/>
              </a:lnSpc>
            </a:pPr>
            <a:r>
              <a:rPr lang="en-GB" sz="1200" b="1" dirty="0">
                <a:solidFill>
                  <a:schemeClr val="bg2">
                    <a:lumMod val="50000"/>
                  </a:schemeClr>
                </a:solidFill>
                <a:latin typeface="Calibri" panose="020F0502020204030204" pitchFamily="34" charset="0"/>
                <a:ea typeface="Times New Roman" panose="02020603050405020304" pitchFamily="18" charset="0"/>
                <a:cs typeface="Times New Roman" panose="02020603050405020304" pitchFamily="18" charset="0"/>
              </a:rPr>
              <a:t>(Affiliated to </a:t>
            </a:r>
            <a:r>
              <a:rPr lang="en-GB" sz="1200" b="1" dirty="0" err="1">
                <a:solidFill>
                  <a:schemeClr val="bg2">
                    <a:lumMod val="50000"/>
                  </a:schemeClr>
                </a:solidFill>
                <a:latin typeface="Calibri" panose="020F0502020204030204" pitchFamily="34" charset="0"/>
                <a:ea typeface="Times New Roman" panose="02020603050405020304" pitchFamily="18" charset="0"/>
                <a:cs typeface="Times New Roman" panose="02020603050405020304" pitchFamily="18" charset="0"/>
              </a:rPr>
              <a:t>Periyar</a:t>
            </a:r>
            <a:r>
              <a:rPr lang="en-GB" sz="1200" b="1" dirty="0">
                <a:solidFill>
                  <a:schemeClr val="bg2">
                    <a:lumMod val="50000"/>
                  </a:schemeClr>
                </a:solidFill>
                <a:latin typeface="Calibri" panose="020F0502020204030204" pitchFamily="34" charset="0"/>
                <a:ea typeface="Times New Roman" panose="02020603050405020304" pitchFamily="18" charset="0"/>
                <a:cs typeface="Times New Roman" panose="02020603050405020304" pitchFamily="18" charset="0"/>
              </a:rPr>
              <a:t> University, Salem)</a:t>
            </a:r>
            <a:endParaRPr lang="en-US" sz="1200" dirty="0">
              <a:solidFill>
                <a:schemeClr val="bg2">
                  <a:lumMod val="50000"/>
                </a:schemeClr>
              </a:solidFill>
              <a:latin typeface="Calibri" panose="020F0502020204030204" pitchFamily="34" charset="0"/>
              <a:ea typeface="Times New Roman" panose="02020603050405020304" pitchFamily="18" charset="0"/>
              <a:cs typeface="Times New Roman" panose="02020603050405020304" pitchFamily="18" charset="0"/>
            </a:endParaRPr>
          </a:p>
          <a:p>
            <a:pPr algn="ctr">
              <a:lnSpc>
                <a:spcPct val="115000"/>
              </a:lnSpc>
            </a:pPr>
            <a:r>
              <a:rPr lang="en-GB" sz="1200" b="1" dirty="0">
                <a:solidFill>
                  <a:schemeClr val="bg2">
                    <a:lumMod val="50000"/>
                  </a:schemeClr>
                </a:solidFill>
                <a:latin typeface="Calibri" panose="020F0502020204030204" pitchFamily="34" charset="0"/>
                <a:ea typeface="Times New Roman" panose="02020603050405020304" pitchFamily="18" charset="0"/>
                <a:cs typeface="Times New Roman" panose="02020603050405020304" pitchFamily="18" charset="0"/>
              </a:rPr>
              <a:t>Accredited by NAAC with A+ Grade (CGPA 3.44) </a:t>
            </a:r>
            <a:r>
              <a:rPr lang="en-GB" sz="1200" b="1" dirty="0">
                <a:solidFill>
                  <a:schemeClr val="bg2">
                    <a:lumMod val="50000"/>
                  </a:schemeClr>
                </a:solidFill>
                <a:latin typeface="Calibri" panose="020F0502020204030204" pitchFamily="34" charset="0"/>
                <a:ea typeface="Times New Roman" panose="02020603050405020304" pitchFamily="18" charset="0"/>
                <a:cs typeface="Calibri" panose="020F0502020204030204" pitchFamily="34" charset="0"/>
              </a:rPr>
              <a:t>&amp;</a:t>
            </a:r>
            <a:r>
              <a:rPr lang="en-GB" sz="1200" b="1" dirty="0">
                <a:solidFill>
                  <a:schemeClr val="bg2">
                    <a:lumMod val="50000"/>
                  </a:schemeClr>
                </a:solidFill>
                <a:latin typeface="Calibri" panose="020F0502020204030204" pitchFamily="34" charset="0"/>
                <a:ea typeface="Times New Roman" panose="02020603050405020304" pitchFamily="18" charset="0"/>
                <a:cs typeface="Times New Roman" panose="02020603050405020304" pitchFamily="18" charset="0"/>
              </a:rPr>
              <a:t> Cycle 2</a:t>
            </a:r>
            <a:endParaRPr lang="en-US" sz="1200" dirty="0">
              <a:solidFill>
                <a:schemeClr val="bg2">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5" name="Rectangle 4"/>
          <p:cNvSpPr/>
          <p:nvPr/>
        </p:nvSpPr>
        <p:spPr>
          <a:xfrm>
            <a:off x="3619500" y="2438400"/>
            <a:ext cx="5257800" cy="369332"/>
          </a:xfrm>
          <a:prstGeom prst="rect">
            <a:avLst/>
          </a:prstGeom>
        </p:spPr>
        <p:txBody>
          <a:bodyPr wrap="square">
            <a:spAutoFit/>
          </a:bodyPr>
          <a:lstStyle/>
          <a:p>
            <a:r>
              <a:rPr lang="en-US" b="1" dirty="0">
                <a:solidFill>
                  <a:schemeClr val="bg2">
                    <a:lumMod val="75000"/>
                  </a:schemeClr>
                </a:solidFill>
                <a:latin typeface="Rockwell Extra Bold" panose="02060903040505020403" pitchFamily="18" charset="0"/>
              </a:rPr>
              <a:t>Bachelor of computer application</a:t>
            </a:r>
          </a:p>
        </p:txBody>
      </p:sp>
      <p:sp>
        <p:nvSpPr>
          <p:cNvPr id="6" name="Rectangle 5"/>
          <p:cNvSpPr/>
          <p:nvPr/>
        </p:nvSpPr>
        <p:spPr>
          <a:xfrm>
            <a:off x="914400" y="4038601"/>
            <a:ext cx="4648200" cy="646331"/>
          </a:xfrm>
          <a:prstGeom prst="rect">
            <a:avLst/>
          </a:prstGeom>
        </p:spPr>
        <p:txBody>
          <a:bodyPr wrap="square">
            <a:spAutoFit/>
          </a:bodyPr>
          <a:lstStyle/>
          <a:p>
            <a:r>
              <a:rPr lang="en-US" b="1" dirty="0" smtClean="0">
                <a:solidFill>
                  <a:schemeClr val="bg2">
                    <a:lumMod val="50000"/>
                  </a:schemeClr>
                </a:solidFill>
                <a:latin typeface="Algerian" panose="04020705040A02060702" pitchFamily="82" charset="0"/>
              </a:rPr>
              <a:t>A.G.SHALINI </a:t>
            </a:r>
            <a:r>
              <a:rPr lang="en-US" b="1" dirty="0">
                <a:solidFill>
                  <a:schemeClr val="bg2">
                    <a:lumMod val="50000"/>
                  </a:schemeClr>
                </a:solidFill>
                <a:latin typeface="Algerian" panose="04020705040A02060702" pitchFamily="82" charset="0"/>
              </a:rPr>
              <a:t>(Reg.no </a:t>
            </a:r>
            <a:r>
              <a:rPr lang="en-US" b="1" dirty="0" smtClean="0">
                <a:solidFill>
                  <a:schemeClr val="bg2">
                    <a:lumMod val="50000"/>
                  </a:schemeClr>
                </a:solidFill>
                <a:latin typeface="Algerian" panose="04020705040A02060702" pitchFamily="82" charset="0"/>
              </a:rPr>
              <a:t>24PVUCA021)</a:t>
            </a:r>
            <a:endParaRPr lang="en-US" b="1" dirty="0">
              <a:solidFill>
                <a:schemeClr val="bg2">
                  <a:lumMod val="50000"/>
                </a:schemeClr>
              </a:solidFill>
              <a:latin typeface="Algerian" panose="04020705040A02060702" pitchFamily="82" charset="0"/>
            </a:endParaRPr>
          </a:p>
          <a:p>
            <a:r>
              <a:rPr lang="en-US" b="1" dirty="0" smtClean="0">
                <a:solidFill>
                  <a:schemeClr val="bg2">
                    <a:lumMod val="50000"/>
                  </a:schemeClr>
                </a:solidFill>
                <a:latin typeface="Algerian" panose="04020705040A02060702" pitchFamily="82" charset="0"/>
              </a:rPr>
              <a:t>A.PAVITHRA(REG.NO 24PVUCA015)</a:t>
            </a:r>
            <a:endParaRPr lang="en-US" b="1" dirty="0">
              <a:solidFill>
                <a:schemeClr val="bg2">
                  <a:lumMod val="50000"/>
                </a:schemeClr>
              </a:solidFill>
              <a:latin typeface="Algerian" panose="04020705040A02060702" pitchFamily="82" charset="0"/>
            </a:endParaRPr>
          </a:p>
        </p:txBody>
      </p:sp>
    </p:spTree>
    <p:extLst>
      <p:ext uri="{BB962C8B-B14F-4D97-AF65-F5344CB8AC3E}">
        <p14:creationId xmlns:p14="http://schemas.microsoft.com/office/powerpoint/2010/main" val="240541070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66800" y="152400"/>
            <a:ext cx="8001000" cy="2971801"/>
          </a:xfrm>
        </p:spPr>
        <p:txBody>
          <a:bodyPr>
            <a:normAutofit/>
          </a:bodyPr>
          <a:lstStyle/>
          <a:p>
            <a:pPr>
              <a:lnSpc>
                <a:spcPct val="150000"/>
              </a:lnSpc>
            </a:pPr>
            <a:r>
              <a:rPr lang="en-US" sz="3000" b="1" dirty="0">
                <a:solidFill>
                  <a:schemeClr val="bg1"/>
                </a:solidFill>
                <a:latin typeface="Algerian" panose="04020705040A02060702" pitchFamily="82" charset="0"/>
                <a:cs typeface="Times New Roman" pitchFamily="18" charset="0"/>
              </a:rPr>
              <a:t>VIRTUAL CLASSROOM SYSTEM</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1"/>
            <a:ext cx="8532812" cy="609600"/>
          </a:xfrm>
        </p:spPr>
        <p:txBody>
          <a:bodyPr>
            <a:normAutofit fontScale="90000"/>
          </a:bodyPr>
          <a:lstStyle/>
          <a:p>
            <a:pPr>
              <a:lnSpc>
                <a:spcPct val="150000"/>
              </a:lnSpc>
            </a:pPr>
            <a:r>
              <a:rPr lang="en-US" sz="2500" b="1" dirty="0">
                <a:solidFill>
                  <a:schemeClr val="bg1"/>
                </a:solidFill>
                <a:latin typeface="Algerian" panose="04020705040A02060702" pitchFamily="82" charset="0"/>
                <a:cs typeface="Times New Roman" pitchFamily="18" charset="0"/>
              </a:rPr>
              <a:t>ABSTRACT</a:t>
            </a:r>
          </a:p>
        </p:txBody>
      </p:sp>
      <p:sp>
        <p:nvSpPr>
          <p:cNvPr id="3" name="Content Placeholder 2"/>
          <p:cNvSpPr>
            <a:spLocks noGrp="1"/>
          </p:cNvSpPr>
          <p:nvPr>
            <p:ph idx="1"/>
          </p:nvPr>
        </p:nvSpPr>
        <p:spPr>
          <a:xfrm>
            <a:off x="1981200" y="1371600"/>
            <a:ext cx="9829800" cy="4343400"/>
          </a:xfrm>
        </p:spPr>
        <p:txBody>
          <a:bodyPr>
            <a:normAutofit lnSpcReduction="10000"/>
          </a:bodyPr>
          <a:lstStyle/>
          <a:p>
            <a:pPr algn="just">
              <a:lnSpc>
                <a:spcPct val="150000"/>
              </a:lnSpc>
            </a:pPr>
            <a:r>
              <a:rPr lang="en-US" dirty="0">
                <a:solidFill>
                  <a:schemeClr val="bg1"/>
                </a:solidFill>
                <a:latin typeface="Times New Roman" pitchFamily="18" charset="0"/>
                <a:cs typeface="Times New Roman" pitchFamily="18" charset="0"/>
              </a:rPr>
              <a:t>The population of students all over the world is growing without a proportionate increase in teaching/learning resources/infrastructure. There is also much quest for learning in an environment that provides equal opportunities to all learners. </a:t>
            </a:r>
          </a:p>
          <a:p>
            <a:pPr algn="just">
              <a:lnSpc>
                <a:spcPct val="150000"/>
              </a:lnSpc>
            </a:pPr>
            <a:r>
              <a:rPr lang="en-US" dirty="0">
                <a:solidFill>
                  <a:schemeClr val="bg1"/>
                </a:solidFill>
                <a:latin typeface="Times New Roman" pitchFamily="18" charset="0"/>
                <a:cs typeface="Times New Roman" pitchFamily="18" charset="0"/>
              </a:rPr>
              <a:t>Based on our findings, a mathematical model Web-based Virtual Classroom system (WebVCS) was developed to provide a viable medium through which education can be offered in tertiary institutions that can carter for varieties of learners irrespective of their abilities, dispositions. </a:t>
            </a:r>
          </a:p>
          <a:p>
            <a:pPr algn="just">
              <a:lnSpc>
                <a:spcPct val="150000"/>
              </a:lnSpc>
            </a:pPr>
            <a:r>
              <a:rPr lang="en-US" dirty="0">
                <a:solidFill>
                  <a:schemeClr val="bg1"/>
                </a:solidFill>
                <a:latin typeface="Times New Roman" pitchFamily="18" charset="0"/>
                <a:cs typeface="Times New Roman" pitchFamily="18" charset="0"/>
              </a:rPr>
              <a:t>The key objects used in creating the WebVCS model are: Courses, Students, Instructors, Discussion, Quiz and Learning material. </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1"/>
            <a:ext cx="6400800" cy="1066800"/>
          </a:xfrm>
        </p:spPr>
        <p:txBody>
          <a:bodyPr>
            <a:normAutofit/>
          </a:bodyPr>
          <a:lstStyle/>
          <a:p>
            <a:pPr>
              <a:lnSpc>
                <a:spcPct val="150000"/>
              </a:lnSpc>
            </a:pPr>
            <a:r>
              <a:rPr lang="en-US" sz="2500" b="1" dirty="0">
                <a:solidFill>
                  <a:schemeClr val="bg1"/>
                </a:solidFill>
                <a:latin typeface="Algerian" panose="04020705040A02060702" pitchFamily="82" charset="0"/>
                <a:cs typeface="Times New Roman" pitchFamily="18" charset="0"/>
              </a:rPr>
              <a:t>EXISTING SYSTEM</a:t>
            </a:r>
          </a:p>
        </p:txBody>
      </p:sp>
      <p:sp>
        <p:nvSpPr>
          <p:cNvPr id="3" name="Content Placeholder 2"/>
          <p:cNvSpPr>
            <a:spLocks noGrp="1"/>
          </p:cNvSpPr>
          <p:nvPr>
            <p:ph idx="1"/>
          </p:nvPr>
        </p:nvSpPr>
        <p:spPr>
          <a:xfrm>
            <a:off x="1524000" y="609600"/>
            <a:ext cx="10134600" cy="5410200"/>
          </a:xfrm>
        </p:spPr>
        <p:txBody>
          <a:bodyPr>
            <a:normAutofit/>
          </a:bodyPr>
          <a:lstStyle/>
          <a:p>
            <a:pPr algn="just">
              <a:lnSpc>
                <a:spcPct val="150000"/>
              </a:lnSpc>
            </a:pPr>
            <a:r>
              <a:rPr lang="en-US" dirty="0">
                <a:solidFill>
                  <a:schemeClr val="bg1"/>
                </a:solidFill>
                <a:latin typeface="Times New Roman" pitchFamily="18" charset="0"/>
                <a:cs typeface="Times New Roman" pitchFamily="18" charset="0"/>
              </a:rPr>
              <a:t>The prospect of carrying a whole university experience compacted into a particular device is rare to say the lowest volume. </a:t>
            </a:r>
          </a:p>
          <a:p>
            <a:pPr algn="just">
              <a:lnSpc>
                <a:spcPct val="150000"/>
              </a:lnSpc>
            </a:pPr>
            <a:r>
              <a:rPr lang="en-US" dirty="0">
                <a:solidFill>
                  <a:schemeClr val="bg1"/>
                </a:solidFill>
                <a:latin typeface="Times New Roman" pitchFamily="18" charset="0"/>
                <a:cs typeface="Times New Roman" pitchFamily="18" charset="0"/>
              </a:rPr>
              <a:t>Traditionally, a degree of passivity is anticipated throughout lectures, extensively formerly note-taking and listening, whereas discussion with preceptors is distributed at a defined time. </a:t>
            </a:r>
          </a:p>
          <a:p>
            <a:pPr algn="just">
              <a:lnSpc>
                <a:spcPct val="150000"/>
              </a:lnSpc>
            </a:pPr>
            <a:r>
              <a:rPr lang="en-US" dirty="0">
                <a:solidFill>
                  <a:schemeClr val="bg1"/>
                </a:solidFill>
                <a:latin typeface="Times New Roman" pitchFamily="18" charset="0"/>
                <a:cs typeface="Times New Roman" pitchFamily="18" charset="0"/>
              </a:rPr>
              <a:t>On- line knowledge demands springing into action, acceptive course material throughout a form of transmission formats, and taking part in online exchanges which could continue indefinitely.</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4800" y="152400"/>
            <a:ext cx="3505200" cy="1524001"/>
          </a:xfrm>
        </p:spPr>
        <p:txBody>
          <a:bodyPr>
            <a:normAutofit/>
          </a:bodyPr>
          <a:lstStyle/>
          <a:p>
            <a:pPr>
              <a:lnSpc>
                <a:spcPct val="150000"/>
              </a:lnSpc>
            </a:pPr>
            <a:r>
              <a:rPr lang="en-US" sz="2500" b="1" dirty="0">
                <a:solidFill>
                  <a:schemeClr val="bg1"/>
                </a:solidFill>
                <a:latin typeface="Algerian" panose="04020705040A02060702" pitchFamily="82" charset="0"/>
                <a:cs typeface="Times New Roman" pitchFamily="18" charset="0"/>
              </a:rPr>
              <a:t>PROPOSED SYSTEM</a:t>
            </a:r>
          </a:p>
        </p:txBody>
      </p:sp>
      <p:sp>
        <p:nvSpPr>
          <p:cNvPr id="3" name="Content Placeholder 2"/>
          <p:cNvSpPr>
            <a:spLocks noGrp="1"/>
          </p:cNvSpPr>
          <p:nvPr>
            <p:ph idx="1"/>
          </p:nvPr>
        </p:nvSpPr>
        <p:spPr>
          <a:xfrm>
            <a:off x="1447800" y="1524000"/>
            <a:ext cx="9906000" cy="4876800"/>
          </a:xfrm>
        </p:spPr>
        <p:txBody>
          <a:bodyPr>
            <a:normAutofit/>
          </a:bodyPr>
          <a:lstStyle/>
          <a:p>
            <a:pPr algn="just">
              <a:lnSpc>
                <a:spcPct val="150000"/>
              </a:lnSpc>
            </a:pPr>
            <a:r>
              <a:rPr lang="en-US" dirty="0">
                <a:solidFill>
                  <a:schemeClr val="bg1"/>
                </a:solidFill>
                <a:latin typeface="Times New Roman" pitchFamily="18" charset="0"/>
                <a:cs typeface="Times New Roman" pitchFamily="18" charset="0"/>
              </a:rPr>
              <a:t>In Proposed to automate the task of teachers and students for the given work and also eliminate the manual paperwork. </a:t>
            </a:r>
          </a:p>
          <a:p>
            <a:pPr algn="just">
              <a:lnSpc>
                <a:spcPct val="150000"/>
              </a:lnSpc>
            </a:pPr>
            <a:r>
              <a:rPr lang="en-US" dirty="0">
                <a:solidFill>
                  <a:schemeClr val="bg1"/>
                </a:solidFill>
                <a:latin typeface="Times New Roman" pitchFamily="18" charset="0"/>
                <a:cs typeface="Times New Roman" pitchFamily="18" charset="0"/>
              </a:rPr>
              <a:t>To create a system that implements features such as Courses, Students, Instructors, Discussion, Quiz and Learning material to enhance the virtual classroom experience. </a:t>
            </a:r>
          </a:p>
          <a:p>
            <a:pPr algn="just">
              <a:lnSpc>
                <a:spcPct val="150000"/>
              </a:lnSpc>
            </a:pPr>
            <a:r>
              <a:rPr lang="en-US" dirty="0">
                <a:solidFill>
                  <a:schemeClr val="bg1"/>
                </a:solidFill>
                <a:latin typeface="Times New Roman" pitchFamily="18" charset="0"/>
                <a:cs typeface="Times New Roman" pitchFamily="18" charset="0"/>
              </a:rPr>
              <a:t>User authentication and authorization are implemented to ensure the security of the system, while classroom creation and management provide teachers with the flexibility to create and manage virtual classrooms as needed. </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62400" y="0"/>
            <a:ext cx="4648200" cy="1143001"/>
          </a:xfrm>
        </p:spPr>
        <p:txBody>
          <a:bodyPr>
            <a:normAutofit/>
          </a:bodyPr>
          <a:lstStyle/>
          <a:p>
            <a:pPr>
              <a:lnSpc>
                <a:spcPct val="150000"/>
              </a:lnSpc>
            </a:pPr>
            <a:r>
              <a:rPr lang="en-US" sz="2500" b="1" dirty="0">
                <a:solidFill>
                  <a:schemeClr val="bg1"/>
                </a:solidFill>
                <a:latin typeface="Algerian" panose="04020705040A02060702" pitchFamily="82" charset="0"/>
                <a:cs typeface="Times New Roman" pitchFamily="18" charset="0"/>
              </a:rPr>
              <a:t>SYSTEM REQUIREMENTS</a:t>
            </a:r>
          </a:p>
        </p:txBody>
      </p:sp>
      <p:sp>
        <p:nvSpPr>
          <p:cNvPr id="3" name="Content Placeholder 2"/>
          <p:cNvSpPr>
            <a:spLocks noGrp="1"/>
          </p:cNvSpPr>
          <p:nvPr>
            <p:ph idx="1"/>
          </p:nvPr>
        </p:nvSpPr>
        <p:spPr>
          <a:xfrm>
            <a:off x="533400" y="2133600"/>
            <a:ext cx="4648199" cy="3048000"/>
          </a:xfrm>
        </p:spPr>
        <p:txBody>
          <a:bodyPr>
            <a:normAutofit fontScale="85000" lnSpcReduction="10000"/>
          </a:bodyPr>
          <a:lstStyle/>
          <a:p>
            <a:pPr algn="just">
              <a:lnSpc>
                <a:spcPct val="150000"/>
              </a:lnSpc>
              <a:buNone/>
            </a:pPr>
            <a:r>
              <a:rPr lang="en-US" sz="2100" b="1" dirty="0">
                <a:solidFill>
                  <a:schemeClr val="bg1"/>
                </a:solidFill>
                <a:latin typeface="Times New Roman" pitchFamily="18" charset="0"/>
                <a:cs typeface="Times New Roman" pitchFamily="18" charset="0"/>
              </a:rPr>
              <a:t>HARDWARE REQUIREMENTS</a:t>
            </a:r>
            <a:r>
              <a:rPr lang="en-US" b="1" dirty="0">
                <a:solidFill>
                  <a:schemeClr val="bg1"/>
                </a:solidFill>
                <a:latin typeface="Times New Roman" pitchFamily="18" charset="0"/>
                <a:cs typeface="Times New Roman" pitchFamily="18" charset="0"/>
              </a:rPr>
              <a:t>:</a:t>
            </a:r>
          </a:p>
          <a:p>
            <a:pPr marL="0" indent="0" algn="just">
              <a:lnSpc>
                <a:spcPct val="150000"/>
              </a:lnSpc>
              <a:buNone/>
            </a:pPr>
            <a:r>
              <a:rPr lang="en-US" dirty="0">
                <a:solidFill>
                  <a:schemeClr val="bg1"/>
                </a:solidFill>
                <a:latin typeface="Times New Roman" pitchFamily="18" charset="0"/>
                <a:cs typeface="Times New Roman" pitchFamily="18" charset="0"/>
              </a:rPr>
              <a:t>System	</a:t>
            </a:r>
            <a:r>
              <a:rPr lang="en-US" dirty="0" smtClean="0">
                <a:solidFill>
                  <a:schemeClr val="bg1"/>
                </a:solidFill>
                <a:latin typeface="Times New Roman" pitchFamily="18" charset="0"/>
                <a:cs typeface="Times New Roman" pitchFamily="18" charset="0"/>
              </a:rPr>
              <a:t>   : </a:t>
            </a:r>
            <a:r>
              <a:rPr lang="en-US" dirty="0">
                <a:solidFill>
                  <a:schemeClr val="bg1"/>
                </a:solidFill>
                <a:latin typeface="Times New Roman" pitchFamily="18" charset="0"/>
                <a:cs typeface="Times New Roman" pitchFamily="18" charset="0"/>
              </a:rPr>
              <a:t>	</a:t>
            </a:r>
            <a:r>
              <a:rPr lang="en-US" dirty="0" smtClean="0">
                <a:solidFill>
                  <a:schemeClr val="bg1"/>
                </a:solidFill>
                <a:latin typeface="Times New Roman" pitchFamily="18" charset="0"/>
                <a:cs typeface="Times New Roman" pitchFamily="18" charset="0"/>
              </a:rPr>
              <a:t>     Pentium </a:t>
            </a:r>
            <a:r>
              <a:rPr lang="en-US" dirty="0">
                <a:solidFill>
                  <a:schemeClr val="bg1"/>
                </a:solidFill>
                <a:latin typeface="Times New Roman" pitchFamily="18" charset="0"/>
                <a:cs typeface="Times New Roman" pitchFamily="18" charset="0"/>
              </a:rPr>
              <a:t>IV 2.4 GHz.</a:t>
            </a:r>
          </a:p>
          <a:p>
            <a:pPr marL="0" indent="0" algn="just">
              <a:lnSpc>
                <a:spcPct val="150000"/>
              </a:lnSpc>
              <a:buNone/>
            </a:pPr>
            <a:r>
              <a:rPr lang="en-US" dirty="0">
                <a:solidFill>
                  <a:schemeClr val="bg1"/>
                </a:solidFill>
                <a:latin typeface="Times New Roman" pitchFamily="18" charset="0"/>
                <a:cs typeface="Times New Roman" pitchFamily="18" charset="0"/>
              </a:rPr>
              <a:t>Hard Disk </a:t>
            </a:r>
            <a:r>
              <a:rPr lang="en-US" dirty="0" smtClean="0">
                <a:solidFill>
                  <a:schemeClr val="bg1"/>
                </a:solidFill>
                <a:latin typeface="Times New Roman" pitchFamily="18" charset="0"/>
                <a:cs typeface="Times New Roman" pitchFamily="18" charset="0"/>
              </a:rPr>
              <a:t> : </a:t>
            </a:r>
            <a:r>
              <a:rPr lang="en-US" dirty="0">
                <a:solidFill>
                  <a:schemeClr val="bg1"/>
                </a:solidFill>
                <a:latin typeface="Times New Roman" pitchFamily="18" charset="0"/>
                <a:cs typeface="Times New Roman" pitchFamily="18" charset="0"/>
              </a:rPr>
              <a:t>	</a:t>
            </a:r>
            <a:r>
              <a:rPr lang="en-US" dirty="0" smtClean="0">
                <a:solidFill>
                  <a:schemeClr val="bg1"/>
                </a:solidFill>
                <a:latin typeface="Times New Roman" pitchFamily="18" charset="0"/>
                <a:cs typeface="Times New Roman" pitchFamily="18" charset="0"/>
              </a:rPr>
              <a:t>     500 </a:t>
            </a:r>
            <a:r>
              <a:rPr lang="en-US" dirty="0">
                <a:solidFill>
                  <a:schemeClr val="bg1"/>
                </a:solidFill>
                <a:latin typeface="Times New Roman" pitchFamily="18" charset="0"/>
                <a:cs typeface="Times New Roman" pitchFamily="18" charset="0"/>
              </a:rPr>
              <a:t>GB.</a:t>
            </a:r>
          </a:p>
          <a:p>
            <a:pPr marL="0" indent="0" algn="just">
              <a:lnSpc>
                <a:spcPct val="150000"/>
              </a:lnSpc>
              <a:buNone/>
            </a:pPr>
            <a:r>
              <a:rPr lang="en-US" dirty="0">
                <a:solidFill>
                  <a:schemeClr val="bg1"/>
                </a:solidFill>
                <a:latin typeface="Times New Roman" pitchFamily="18" charset="0"/>
                <a:cs typeface="Times New Roman" pitchFamily="18" charset="0"/>
              </a:rPr>
              <a:t>Monitor	</a:t>
            </a:r>
            <a:r>
              <a:rPr lang="en-US" dirty="0" smtClean="0">
                <a:solidFill>
                  <a:schemeClr val="bg1"/>
                </a:solidFill>
                <a:latin typeface="Times New Roman" pitchFamily="18" charset="0"/>
                <a:cs typeface="Times New Roman" pitchFamily="18" charset="0"/>
              </a:rPr>
              <a:t>   : </a:t>
            </a:r>
            <a:r>
              <a:rPr lang="en-US" dirty="0">
                <a:solidFill>
                  <a:schemeClr val="bg1"/>
                </a:solidFill>
                <a:latin typeface="Times New Roman" pitchFamily="18" charset="0"/>
                <a:cs typeface="Times New Roman" pitchFamily="18" charset="0"/>
              </a:rPr>
              <a:t>	</a:t>
            </a:r>
            <a:r>
              <a:rPr lang="en-US" dirty="0" smtClean="0">
                <a:solidFill>
                  <a:schemeClr val="bg1"/>
                </a:solidFill>
                <a:latin typeface="Times New Roman" pitchFamily="18" charset="0"/>
                <a:cs typeface="Times New Roman" pitchFamily="18" charset="0"/>
              </a:rPr>
              <a:t>     15 </a:t>
            </a:r>
            <a:r>
              <a:rPr lang="en-US" dirty="0">
                <a:solidFill>
                  <a:schemeClr val="bg1"/>
                </a:solidFill>
                <a:latin typeface="Times New Roman" pitchFamily="18" charset="0"/>
                <a:cs typeface="Times New Roman" pitchFamily="18" charset="0"/>
              </a:rPr>
              <a:t>VGA Colour.</a:t>
            </a:r>
          </a:p>
          <a:p>
            <a:pPr marL="0" indent="0" algn="just">
              <a:lnSpc>
                <a:spcPct val="150000"/>
              </a:lnSpc>
              <a:buNone/>
            </a:pPr>
            <a:r>
              <a:rPr lang="en-US" dirty="0">
                <a:solidFill>
                  <a:schemeClr val="bg1"/>
                </a:solidFill>
                <a:latin typeface="Times New Roman" pitchFamily="18" charset="0"/>
                <a:cs typeface="Times New Roman" pitchFamily="18" charset="0"/>
              </a:rPr>
              <a:t>Mouse	</a:t>
            </a:r>
            <a:r>
              <a:rPr lang="en-US" dirty="0" smtClean="0">
                <a:solidFill>
                  <a:schemeClr val="bg1"/>
                </a:solidFill>
                <a:latin typeface="Times New Roman" pitchFamily="18" charset="0"/>
                <a:cs typeface="Times New Roman" pitchFamily="18" charset="0"/>
              </a:rPr>
              <a:t>   :   </a:t>
            </a:r>
            <a:r>
              <a:rPr lang="en-US" dirty="0">
                <a:solidFill>
                  <a:schemeClr val="bg1"/>
                </a:solidFill>
                <a:latin typeface="Times New Roman" pitchFamily="18" charset="0"/>
                <a:cs typeface="Times New Roman" pitchFamily="18" charset="0"/>
              </a:rPr>
              <a:t> </a:t>
            </a:r>
            <a:r>
              <a:rPr lang="en-US" dirty="0" smtClean="0">
                <a:solidFill>
                  <a:schemeClr val="bg1"/>
                </a:solidFill>
                <a:latin typeface="Times New Roman" pitchFamily="18" charset="0"/>
                <a:cs typeface="Times New Roman" pitchFamily="18" charset="0"/>
              </a:rPr>
              <a:t>     Logitech</a:t>
            </a:r>
            <a:r>
              <a:rPr lang="en-US" dirty="0">
                <a:solidFill>
                  <a:schemeClr val="bg1"/>
                </a:solidFill>
                <a:latin typeface="Times New Roman" pitchFamily="18" charset="0"/>
                <a:cs typeface="Times New Roman" pitchFamily="18" charset="0"/>
              </a:rPr>
              <a:t>.</a:t>
            </a:r>
          </a:p>
          <a:p>
            <a:pPr marL="0" indent="0" algn="just">
              <a:lnSpc>
                <a:spcPct val="150000"/>
              </a:lnSpc>
              <a:buNone/>
            </a:pPr>
            <a:r>
              <a:rPr lang="en-US" dirty="0">
                <a:solidFill>
                  <a:schemeClr val="bg1"/>
                </a:solidFill>
                <a:latin typeface="Times New Roman" pitchFamily="18" charset="0"/>
                <a:cs typeface="Times New Roman" pitchFamily="18" charset="0"/>
              </a:rPr>
              <a:t>RAM	 </a:t>
            </a:r>
            <a:r>
              <a:rPr lang="en-US" dirty="0" smtClean="0">
                <a:solidFill>
                  <a:schemeClr val="bg1"/>
                </a:solidFill>
                <a:latin typeface="Times New Roman" pitchFamily="18" charset="0"/>
                <a:cs typeface="Times New Roman" pitchFamily="18" charset="0"/>
              </a:rPr>
              <a:t>  : </a:t>
            </a:r>
            <a:r>
              <a:rPr lang="en-US" dirty="0">
                <a:solidFill>
                  <a:schemeClr val="bg1"/>
                </a:solidFill>
                <a:latin typeface="Times New Roman" pitchFamily="18" charset="0"/>
                <a:cs typeface="Times New Roman" pitchFamily="18" charset="0"/>
              </a:rPr>
              <a:t>	</a:t>
            </a:r>
            <a:r>
              <a:rPr lang="en-US" dirty="0" smtClean="0">
                <a:solidFill>
                  <a:schemeClr val="bg1"/>
                </a:solidFill>
                <a:latin typeface="Times New Roman" pitchFamily="18" charset="0"/>
                <a:cs typeface="Times New Roman" pitchFamily="18" charset="0"/>
              </a:rPr>
              <a:t>      4 </a:t>
            </a:r>
            <a:r>
              <a:rPr lang="en-US" dirty="0">
                <a:solidFill>
                  <a:schemeClr val="bg1"/>
                </a:solidFill>
                <a:latin typeface="Times New Roman" pitchFamily="18" charset="0"/>
                <a:cs typeface="Times New Roman" pitchFamily="18" charset="0"/>
              </a:rPr>
              <a:t>GB.</a:t>
            </a:r>
          </a:p>
          <a:p>
            <a:pPr algn="just">
              <a:lnSpc>
                <a:spcPct val="150000"/>
              </a:lnSpc>
            </a:pPr>
            <a:endParaRPr lang="en-US" dirty="0">
              <a:latin typeface="Times New Roman" pitchFamily="18" charset="0"/>
              <a:cs typeface="Times New Roman" pitchFamily="18" charset="0"/>
            </a:endParaRPr>
          </a:p>
        </p:txBody>
      </p:sp>
      <p:sp>
        <p:nvSpPr>
          <p:cNvPr id="4" name="Rectangle 3"/>
          <p:cNvSpPr/>
          <p:nvPr/>
        </p:nvSpPr>
        <p:spPr>
          <a:xfrm>
            <a:off x="5791200" y="1952179"/>
            <a:ext cx="6400800" cy="3000821"/>
          </a:xfrm>
          <a:prstGeom prst="rect">
            <a:avLst/>
          </a:prstGeom>
        </p:spPr>
        <p:txBody>
          <a:bodyPr wrap="square">
            <a:spAutoFit/>
          </a:bodyPr>
          <a:lstStyle/>
          <a:p>
            <a:pPr algn="just">
              <a:lnSpc>
                <a:spcPct val="150000"/>
              </a:lnSpc>
              <a:buNone/>
            </a:pPr>
            <a:r>
              <a:rPr lang="en-US" b="1" dirty="0">
                <a:solidFill>
                  <a:schemeClr val="bg1"/>
                </a:solidFill>
                <a:latin typeface="Times New Roman" pitchFamily="18" charset="0"/>
                <a:cs typeface="Times New Roman" pitchFamily="18" charset="0"/>
              </a:rPr>
              <a:t>SOFTWARE REQUIREMENTS:</a:t>
            </a:r>
          </a:p>
          <a:p>
            <a:pPr algn="just">
              <a:lnSpc>
                <a:spcPct val="150000"/>
              </a:lnSpc>
            </a:pPr>
            <a:r>
              <a:rPr lang="en-US" dirty="0">
                <a:solidFill>
                  <a:schemeClr val="bg1"/>
                </a:solidFill>
                <a:latin typeface="Times New Roman" pitchFamily="18" charset="0"/>
                <a:cs typeface="Times New Roman" pitchFamily="18" charset="0"/>
              </a:rPr>
              <a:t>Operating System	: </a:t>
            </a:r>
            <a:r>
              <a:rPr lang="en-US" dirty="0" smtClean="0">
                <a:solidFill>
                  <a:schemeClr val="bg1"/>
                </a:solidFill>
                <a:latin typeface="Times New Roman" pitchFamily="18" charset="0"/>
                <a:cs typeface="Times New Roman" pitchFamily="18" charset="0"/>
              </a:rPr>
              <a:t>          Windows-10/11 </a:t>
            </a:r>
            <a:r>
              <a:rPr lang="en-US" dirty="0">
                <a:solidFill>
                  <a:schemeClr val="bg1"/>
                </a:solidFill>
                <a:latin typeface="Times New Roman" pitchFamily="18" charset="0"/>
                <a:cs typeface="Times New Roman" pitchFamily="18" charset="0"/>
              </a:rPr>
              <a:t>(64-bit).</a:t>
            </a:r>
          </a:p>
          <a:p>
            <a:pPr algn="just">
              <a:lnSpc>
                <a:spcPct val="150000"/>
              </a:lnSpc>
            </a:pPr>
            <a:r>
              <a:rPr lang="en-US" dirty="0">
                <a:solidFill>
                  <a:schemeClr val="bg1"/>
                </a:solidFill>
                <a:latin typeface="Times New Roman" pitchFamily="18" charset="0"/>
                <a:cs typeface="Times New Roman" pitchFamily="18" charset="0"/>
              </a:rPr>
              <a:t>Frontend		: </a:t>
            </a:r>
            <a:r>
              <a:rPr lang="en-US" dirty="0" smtClean="0">
                <a:solidFill>
                  <a:schemeClr val="bg1"/>
                </a:solidFill>
                <a:latin typeface="Times New Roman" pitchFamily="18" charset="0"/>
                <a:cs typeface="Times New Roman" pitchFamily="18" charset="0"/>
              </a:rPr>
              <a:t>          HTML </a:t>
            </a:r>
            <a:r>
              <a:rPr lang="en-US" dirty="0">
                <a:solidFill>
                  <a:schemeClr val="bg1"/>
                </a:solidFill>
                <a:latin typeface="Times New Roman" pitchFamily="18" charset="0"/>
                <a:cs typeface="Times New Roman" pitchFamily="18" charset="0"/>
              </a:rPr>
              <a:t>5 and Bootstrap 4.5</a:t>
            </a:r>
          </a:p>
          <a:p>
            <a:pPr algn="just">
              <a:lnSpc>
                <a:spcPct val="150000"/>
              </a:lnSpc>
            </a:pPr>
            <a:r>
              <a:rPr lang="en-US" dirty="0">
                <a:solidFill>
                  <a:schemeClr val="bg1"/>
                </a:solidFill>
                <a:latin typeface="Times New Roman" pitchFamily="18" charset="0"/>
                <a:cs typeface="Times New Roman" pitchFamily="18" charset="0"/>
              </a:rPr>
              <a:t>Backend		</a:t>
            </a:r>
            <a:r>
              <a:rPr lang="en-US" dirty="0" smtClean="0">
                <a:solidFill>
                  <a:schemeClr val="bg1"/>
                </a:solidFill>
                <a:latin typeface="Times New Roman" pitchFamily="18" charset="0"/>
                <a:cs typeface="Times New Roman" pitchFamily="18" charset="0"/>
              </a:rPr>
              <a:t>:           Python </a:t>
            </a:r>
            <a:r>
              <a:rPr lang="en-US" dirty="0">
                <a:solidFill>
                  <a:schemeClr val="bg1"/>
                </a:solidFill>
                <a:latin typeface="Times New Roman" pitchFamily="18" charset="0"/>
                <a:cs typeface="Times New Roman" pitchFamily="18" charset="0"/>
              </a:rPr>
              <a:t>3.10 (64-bit)</a:t>
            </a:r>
          </a:p>
          <a:p>
            <a:pPr algn="just">
              <a:lnSpc>
                <a:spcPct val="150000"/>
              </a:lnSpc>
            </a:pPr>
            <a:r>
              <a:rPr lang="en-US" dirty="0">
                <a:solidFill>
                  <a:schemeClr val="bg1"/>
                </a:solidFill>
                <a:latin typeface="Times New Roman" pitchFamily="18" charset="0"/>
                <a:cs typeface="Times New Roman" pitchFamily="18" charset="0"/>
              </a:rPr>
              <a:t>Web Framework	</a:t>
            </a:r>
            <a:r>
              <a:rPr lang="en-US" dirty="0" smtClean="0">
                <a:solidFill>
                  <a:schemeClr val="bg1"/>
                </a:solidFill>
                <a:latin typeface="Times New Roman" pitchFamily="18" charset="0"/>
                <a:cs typeface="Times New Roman" pitchFamily="18" charset="0"/>
              </a:rPr>
              <a:t>:           </a:t>
            </a:r>
            <a:r>
              <a:rPr lang="en-US" dirty="0" err="1" smtClean="0">
                <a:solidFill>
                  <a:schemeClr val="bg1"/>
                </a:solidFill>
                <a:latin typeface="Times New Roman" pitchFamily="18" charset="0"/>
                <a:cs typeface="Times New Roman" pitchFamily="18" charset="0"/>
              </a:rPr>
              <a:t>Django</a:t>
            </a:r>
            <a:r>
              <a:rPr lang="en-US" dirty="0" smtClean="0">
                <a:solidFill>
                  <a:schemeClr val="bg1"/>
                </a:solidFill>
                <a:latin typeface="Times New Roman" pitchFamily="18" charset="0"/>
                <a:cs typeface="Times New Roman" pitchFamily="18" charset="0"/>
              </a:rPr>
              <a:t> </a:t>
            </a:r>
            <a:r>
              <a:rPr lang="en-US" dirty="0">
                <a:solidFill>
                  <a:schemeClr val="bg1"/>
                </a:solidFill>
                <a:latin typeface="Times New Roman" pitchFamily="18" charset="0"/>
                <a:cs typeface="Times New Roman" pitchFamily="18" charset="0"/>
              </a:rPr>
              <a:t>4.5</a:t>
            </a:r>
          </a:p>
          <a:p>
            <a:pPr algn="just">
              <a:lnSpc>
                <a:spcPct val="150000"/>
              </a:lnSpc>
            </a:pPr>
            <a:r>
              <a:rPr lang="en-US" dirty="0">
                <a:solidFill>
                  <a:schemeClr val="bg1"/>
                </a:solidFill>
                <a:latin typeface="Times New Roman" pitchFamily="18" charset="0"/>
                <a:cs typeface="Times New Roman" pitchFamily="18" charset="0"/>
              </a:rPr>
              <a:t>Database		</a:t>
            </a:r>
            <a:r>
              <a:rPr lang="en-US" dirty="0" smtClean="0">
                <a:solidFill>
                  <a:schemeClr val="bg1"/>
                </a:solidFill>
                <a:latin typeface="Times New Roman" pitchFamily="18" charset="0"/>
                <a:cs typeface="Times New Roman" pitchFamily="18" charset="0"/>
              </a:rPr>
              <a:t>:           SQLite </a:t>
            </a:r>
            <a:r>
              <a:rPr lang="en-US" dirty="0">
                <a:solidFill>
                  <a:schemeClr val="bg1"/>
                </a:solidFill>
                <a:latin typeface="Times New Roman" pitchFamily="18" charset="0"/>
                <a:cs typeface="Times New Roman" pitchFamily="18" charset="0"/>
              </a:rPr>
              <a:t>3.0</a:t>
            </a:r>
          </a:p>
          <a:p>
            <a:pPr algn="just">
              <a:lnSpc>
                <a:spcPct val="150000"/>
              </a:lnSpc>
            </a:pPr>
            <a:r>
              <a:rPr lang="en-US" dirty="0">
                <a:solidFill>
                  <a:schemeClr val="bg1"/>
                </a:solidFill>
                <a:latin typeface="Times New Roman" pitchFamily="18" charset="0"/>
                <a:cs typeface="Times New Roman" pitchFamily="18" charset="0"/>
              </a:rPr>
              <a:t>IDE Tools	</a:t>
            </a:r>
            <a:r>
              <a:rPr lang="en-US" dirty="0" smtClean="0">
                <a:solidFill>
                  <a:schemeClr val="bg1"/>
                </a:solidFill>
                <a:latin typeface="Times New Roman" pitchFamily="18" charset="0"/>
                <a:cs typeface="Times New Roman" pitchFamily="18" charset="0"/>
              </a:rPr>
              <a:t>:           Visual </a:t>
            </a:r>
            <a:r>
              <a:rPr lang="en-US" dirty="0">
                <a:solidFill>
                  <a:schemeClr val="bg1"/>
                </a:solidFill>
                <a:latin typeface="Times New Roman" pitchFamily="18" charset="0"/>
                <a:cs typeface="Times New Roman" pitchFamily="18" charset="0"/>
              </a:rPr>
              <a:t>Studio Code 1.8 (64-bit)</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86600" y="381001"/>
            <a:ext cx="4495800" cy="1219200"/>
          </a:xfrm>
        </p:spPr>
        <p:txBody>
          <a:bodyPr>
            <a:normAutofit/>
          </a:bodyPr>
          <a:lstStyle/>
          <a:p>
            <a:pPr>
              <a:lnSpc>
                <a:spcPct val="150000"/>
              </a:lnSpc>
            </a:pPr>
            <a:r>
              <a:rPr lang="en-US" sz="2500" b="1" dirty="0">
                <a:solidFill>
                  <a:schemeClr val="bg1"/>
                </a:solidFill>
                <a:latin typeface="Algerian" panose="04020705040A02060702" pitchFamily="82" charset="0"/>
                <a:cs typeface="Times New Roman" pitchFamily="18" charset="0"/>
              </a:rPr>
              <a:t>SYSTEM ARCHITECTURE</a:t>
            </a:r>
          </a:p>
        </p:txBody>
      </p:sp>
      <p:pic>
        <p:nvPicPr>
          <p:cNvPr id="6" name="Content Placeholder 5" descr="D:\ImmaTech 2026-2027\Mini-Project-2026-2027\Padmavani-BCA\Virtual Classroom System\virtual-class.png"/>
          <p:cNvPicPr>
            <a:picLocks noGrp="1"/>
          </p:cNvPicPr>
          <p:nvPr>
            <p:ph idx="1"/>
          </p:nvPr>
        </p:nvPicPr>
        <p:blipFill>
          <a:blip r:embed="rId2"/>
          <a:stretch>
            <a:fillRect/>
          </a:stretch>
        </p:blipFill>
        <p:spPr bwMode="auto">
          <a:xfrm>
            <a:off x="1219200" y="1143000"/>
            <a:ext cx="4648200" cy="518160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4800" y="76200"/>
            <a:ext cx="3962400" cy="1524000"/>
          </a:xfrm>
        </p:spPr>
        <p:txBody>
          <a:bodyPr>
            <a:normAutofit/>
          </a:bodyPr>
          <a:lstStyle/>
          <a:p>
            <a:pPr>
              <a:lnSpc>
                <a:spcPct val="150000"/>
              </a:lnSpc>
            </a:pPr>
            <a:r>
              <a:rPr lang="en-US" sz="2500" b="1" dirty="0">
                <a:solidFill>
                  <a:schemeClr val="bg1"/>
                </a:solidFill>
                <a:latin typeface="Algerian" panose="04020705040A02060702" pitchFamily="82" charset="0"/>
                <a:cs typeface="Times New Roman" pitchFamily="18" charset="0"/>
              </a:rPr>
              <a:t>LIST OF MODELES</a:t>
            </a:r>
          </a:p>
        </p:txBody>
      </p:sp>
      <p:sp>
        <p:nvSpPr>
          <p:cNvPr id="3" name="Content Placeholder 2"/>
          <p:cNvSpPr>
            <a:spLocks noGrp="1"/>
          </p:cNvSpPr>
          <p:nvPr>
            <p:ph idx="1"/>
          </p:nvPr>
        </p:nvSpPr>
        <p:spPr>
          <a:xfrm>
            <a:off x="1371600" y="1828800"/>
            <a:ext cx="8534400" cy="3615267"/>
          </a:xfrm>
        </p:spPr>
        <p:txBody>
          <a:bodyPr>
            <a:normAutofit fontScale="92500" lnSpcReduction="20000"/>
          </a:bodyPr>
          <a:lstStyle/>
          <a:p>
            <a:pPr lvl="0" algn="just">
              <a:lnSpc>
                <a:spcPct val="150000"/>
              </a:lnSpc>
            </a:pPr>
            <a:r>
              <a:rPr lang="en-US" dirty="0">
                <a:solidFill>
                  <a:schemeClr val="bg1"/>
                </a:solidFill>
                <a:latin typeface="Times New Roman" pitchFamily="18" charset="0"/>
                <a:cs typeface="Times New Roman" pitchFamily="18" charset="0"/>
              </a:rPr>
              <a:t>Staff Module </a:t>
            </a:r>
          </a:p>
          <a:p>
            <a:pPr lvl="0" algn="just">
              <a:lnSpc>
                <a:spcPct val="150000"/>
              </a:lnSpc>
            </a:pPr>
            <a:r>
              <a:rPr lang="en-US" dirty="0">
                <a:solidFill>
                  <a:schemeClr val="bg1"/>
                </a:solidFill>
                <a:latin typeface="Times New Roman" pitchFamily="18" charset="0"/>
                <a:cs typeface="Times New Roman" pitchFamily="18" charset="0"/>
              </a:rPr>
              <a:t>Student Module </a:t>
            </a:r>
          </a:p>
          <a:p>
            <a:pPr lvl="0" algn="just">
              <a:lnSpc>
                <a:spcPct val="150000"/>
              </a:lnSpc>
            </a:pPr>
            <a:r>
              <a:rPr lang="en-US" dirty="0">
                <a:solidFill>
                  <a:schemeClr val="bg1"/>
                </a:solidFill>
                <a:latin typeface="Times New Roman" pitchFamily="18" charset="0"/>
                <a:cs typeface="Times New Roman" pitchFamily="18" charset="0"/>
              </a:rPr>
              <a:t>Login Module</a:t>
            </a:r>
          </a:p>
          <a:p>
            <a:pPr lvl="0" algn="just">
              <a:lnSpc>
                <a:spcPct val="150000"/>
              </a:lnSpc>
            </a:pPr>
            <a:r>
              <a:rPr lang="en-US" dirty="0">
                <a:solidFill>
                  <a:schemeClr val="bg1"/>
                </a:solidFill>
                <a:latin typeface="Times New Roman" pitchFamily="18" charset="0"/>
                <a:cs typeface="Times New Roman" pitchFamily="18" charset="0"/>
              </a:rPr>
              <a:t>Upload/Download Videos </a:t>
            </a:r>
          </a:p>
          <a:p>
            <a:pPr lvl="0" algn="just">
              <a:lnSpc>
                <a:spcPct val="150000"/>
              </a:lnSpc>
            </a:pPr>
            <a:r>
              <a:rPr lang="en-US" dirty="0">
                <a:solidFill>
                  <a:schemeClr val="bg1"/>
                </a:solidFill>
                <a:latin typeface="Times New Roman" pitchFamily="18" charset="0"/>
                <a:cs typeface="Times New Roman" pitchFamily="18" charset="0"/>
              </a:rPr>
              <a:t>Upload/Download Notes </a:t>
            </a:r>
          </a:p>
          <a:p>
            <a:pPr lvl="0" algn="just">
              <a:lnSpc>
                <a:spcPct val="150000"/>
              </a:lnSpc>
            </a:pPr>
            <a:r>
              <a:rPr lang="en-US" dirty="0">
                <a:solidFill>
                  <a:schemeClr val="bg1"/>
                </a:solidFill>
                <a:latin typeface="Times New Roman" pitchFamily="18" charset="0"/>
                <a:cs typeface="Times New Roman" pitchFamily="18" charset="0"/>
              </a:rPr>
              <a:t>Upload/Download Assignment </a:t>
            </a:r>
          </a:p>
          <a:p>
            <a:pPr lvl="0" algn="just">
              <a:lnSpc>
                <a:spcPct val="150000"/>
              </a:lnSpc>
            </a:pPr>
            <a:r>
              <a:rPr lang="en-US" dirty="0">
                <a:solidFill>
                  <a:schemeClr val="bg1"/>
                </a:solidFill>
                <a:latin typeface="Times New Roman" pitchFamily="18" charset="0"/>
                <a:cs typeface="Times New Roman" pitchFamily="18" charset="0"/>
              </a:rPr>
              <a:t>View Assignment Status</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9100" y="228601"/>
            <a:ext cx="8913812" cy="685800"/>
          </a:xfrm>
        </p:spPr>
        <p:txBody>
          <a:bodyPr>
            <a:normAutofit/>
          </a:bodyPr>
          <a:lstStyle/>
          <a:p>
            <a:pPr>
              <a:lnSpc>
                <a:spcPct val="150000"/>
              </a:lnSpc>
            </a:pPr>
            <a:r>
              <a:rPr lang="en-US" sz="2500" b="1" dirty="0">
                <a:solidFill>
                  <a:schemeClr val="bg1"/>
                </a:solidFill>
                <a:latin typeface="Algerian" panose="04020705040A02060702" pitchFamily="82" charset="0"/>
                <a:cs typeface="Times New Roman" pitchFamily="18" charset="0"/>
              </a:rPr>
              <a:t>STAFF MODULE</a:t>
            </a:r>
          </a:p>
        </p:txBody>
      </p:sp>
      <p:sp>
        <p:nvSpPr>
          <p:cNvPr id="3" name="Content Placeholder 2"/>
          <p:cNvSpPr>
            <a:spLocks noGrp="1"/>
          </p:cNvSpPr>
          <p:nvPr>
            <p:ph idx="1"/>
          </p:nvPr>
        </p:nvSpPr>
        <p:spPr>
          <a:xfrm>
            <a:off x="1371600" y="457200"/>
            <a:ext cx="10439400" cy="1828800"/>
          </a:xfrm>
        </p:spPr>
        <p:txBody>
          <a:bodyPr>
            <a:normAutofit/>
          </a:bodyPr>
          <a:lstStyle/>
          <a:p>
            <a:pPr marL="0" indent="0" algn="just">
              <a:lnSpc>
                <a:spcPct val="150000"/>
              </a:lnSpc>
              <a:buNone/>
            </a:pPr>
            <a:r>
              <a:rPr lang="en-US" sz="1800" dirty="0">
                <a:solidFill>
                  <a:schemeClr val="bg1"/>
                </a:solidFill>
                <a:latin typeface="Times New Roman" pitchFamily="18" charset="0"/>
                <a:cs typeface="Times New Roman" pitchFamily="18" charset="0"/>
              </a:rPr>
              <a:t>The staff module in this application can first register their details like name, email, contact details, ID, department and password then only the user can login to the application.</a:t>
            </a:r>
          </a:p>
        </p:txBody>
      </p:sp>
      <p:sp>
        <p:nvSpPr>
          <p:cNvPr id="4" name="Rectangle 3"/>
          <p:cNvSpPr/>
          <p:nvPr/>
        </p:nvSpPr>
        <p:spPr>
          <a:xfrm>
            <a:off x="381000" y="2145267"/>
            <a:ext cx="2895601" cy="461665"/>
          </a:xfrm>
          <a:prstGeom prst="rect">
            <a:avLst/>
          </a:prstGeom>
        </p:spPr>
        <p:txBody>
          <a:bodyPr wrap="square">
            <a:spAutoFit/>
          </a:bodyPr>
          <a:lstStyle/>
          <a:p>
            <a:r>
              <a:rPr lang="en-US" sz="2400" b="1" dirty="0">
                <a:solidFill>
                  <a:schemeClr val="bg1"/>
                </a:solidFill>
                <a:latin typeface="Algerian" panose="04020705040A02060702" pitchFamily="82" charset="0"/>
                <a:cs typeface="Times New Roman" pitchFamily="18" charset="0"/>
              </a:rPr>
              <a:t>STUDENT MODULE</a:t>
            </a:r>
            <a:endParaRPr lang="en-US" sz="2400" dirty="0">
              <a:solidFill>
                <a:schemeClr val="bg1"/>
              </a:solidFill>
              <a:latin typeface="Algerian" panose="04020705040A02060702" pitchFamily="82" charset="0"/>
            </a:endParaRPr>
          </a:p>
        </p:txBody>
      </p:sp>
      <p:sp>
        <p:nvSpPr>
          <p:cNvPr id="5" name="Rectangle 4"/>
          <p:cNvSpPr/>
          <p:nvPr/>
        </p:nvSpPr>
        <p:spPr>
          <a:xfrm>
            <a:off x="1295400" y="2776834"/>
            <a:ext cx="10591800" cy="923330"/>
          </a:xfrm>
          <a:prstGeom prst="rect">
            <a:avLst/>
          </a:prstGeom>
        </p:spPr>
        <p:txBody>
          <a:bodyPr wrap="square">
            <a:spAutoFit/>
          </a:bodyPr>
          <a:lstStyle/>
          <a:p>
            <a:pPr algn="just">
              <a:lnSpc>
                <a:spcPct val="150000"/>
              </a:lnSpc>
            </a:pPr>
            <a:r>
              <a:rPr lang="en-US" dirty="0">
                <a:solidFill>
                  <a:schemeClr val="bg1"/>
                </a:solidFill>
                <a:latin typeface="Times New Roman" pitchFamily="18" charset="0"/>
                <a:cs typeface="Times New Roman" pitchFamily="18" charset="0"/>
              </a:rPr>
              <a:t>The student module in this application can first register their details like name, email, contact details, ID and password then only the user can login to the application.</a:t>
            </a:r>
          </a:p>
        </p:txBody>
      </p:sp>
      <p:sp>
        <p:nvSpPr>
          <p:cNvPr id="6" name="Rectangle 5"/>
          <p:cNvSpPr/>
          <p:nvPr/>
        </p:nvSpPr>
        <p:spPr>
          <a:xfrm>
            <a:off x="419100" y="4188301"/>
            <a:ext cx="5257800" cy="461665"/>
          </a:xfrm>
          <a:prstGeom prst="rect">
            <a:avLst/>
          </a:prstGeom>
        </p:spPr>
        <p:txBody>
          <a:bodyPr wrap="square">
            <a:spAutoFit/>
          </a:bodyPr>
          <a:lstStyle/>
          <a:p>
            <a:r>
              <a:rPr lang="en-US" sz="2400" b="1" dirty="0">
                <a:solidFill>
                  <a:schemeClr val="bg1"/>
                </a:solidFill>
                <a:latin typeface="Algerian" panose="04020705040A02060702" pitchFamily="82" charset="0"/>
                <a:cs typeface="Times New Roman" pitchFamily="18" charset="0"/>
              </a:rPr>
              <a:t>LOGIN MODULE</a:t>
            </a:r>
            <a:endParaRPr lang="en-US" sz="2400" dirty="0">
              <a:solidFill>
                <a:schemeClr val="bg1"/>
              </a:solidFill>
              <a:latin typeface="Algerian" panose="04020705040A02060702" pitchFamily="82" charset="0"/>
            </a:endParaRPr>
          </a:p>
        </p:txBody>
      </p:sp>
      <p:sp>
        <p:nvSpPr>
          <p:cNvPr id="7" name="Rectangle 6"/>
          <p:cNvSpPr/>
          <p:nvPr/>
        </p:nvSpPr>
        <p:spPr>
          <a:xfrm>
            <a:off x="1299446" y="4876799"/>
            <a:ext cx="10359154" cy="646331"/>
          </a:xfrm>
          <a:prstGeom prst="rect">
            <a:avLst/>
          </a:prstGeom>
        </p:spPr>
        <p:txBody>
          <a:bodyPr wrap="square">
            <a:spAutoFit/>
          </a:bodyPr>
          <a:lstStyle/>
          <a:p>
            <a:r>
              <a:rPr lang="en-US" dirty="0">
                <a:solidFill>
                  <a:schemeClr val="bg1"/>
                </a:solidFill>
                <a:latin typeface="Times New Roman" pitchFamily="18" charset="0"/>
                <a:cs typeface="Times New Roman" pitchFamily="18" charset="0"/>
              </a:rPr>
              <a:t>The Login module in this application can select the user type, username and password then only the user </a:t>
            </a:r>
            <a:r>
              <a:rPr lang="en-US" dirty="0" smtClean="0">
                <a:solidFill>
                  <a:schemeClr val="bg1"/>
                </a:solidFill>
                <a:latin typeface="Times New Roman" pitchFamily="18" charset="0"/>
                <a:cs typeface="Times New Roman" pitchFamily="18" charset="0"/>
              </a:rPr>
              <a:t>can</a:t>
            </a:r>
          </a:p>
          <a:p>
            <a:r>
              <a:rPr lang="en-US" dirty="0" smtClean="0">
                <a:solidFill>
                  <a:schemeClr val="bg1"/>
                </a:solidFill>
                <a:latin typeface="Times New Roman" pitchFamily="18" charset="0"/>
                <a:cs typeface="Times New Roman" pitchFamily="18" charset="0"/>
              </a:rPr>
              <a:t> </a:t>
            </a:r>
            <a:r>
              <a:rPr lang="en-US" dirty="0">
                <a:solidFill>
                  <a:schemeClr val="bg1"/>
                </a:solidFill>
                <a:latin typeface="Times New Roman" pitchFamily="18" charset="0"/>
                <a:cs typeface="Times New Roman" pitchFamily="18" charset="0"/>
              </a:rPr>
              <a:t>login to the application</a:t>
            </a:r>
            <a:endParaRPr lang="en-US" dirty="0">
              <a:solidFill>
                <a:schemeClr val="bg1"/>
              </a:solidFill>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28601"/>
            <a:ext cx="8990012" cy="685800"/>
          </a:xfrm>
        </p:spPr>
        <p:txBody>
          <a:bodyPr>
            <a:normAutofit/>
          </a:bodyPr>
          <a:lstStyle/>
          <a:p>
            <a:pPr>
              <a:lnSpc>
                <a:spcPct val="150000"/>
              </a:lnSpc>
            </a:pPr>
            <a:r>
              <a:rPr lang="en-US" sz="2000" b="1" dirty="0">
                <a:solidFill>
                  <a:schemeClr val="bg1"/>
                </a:solidFill>
                <a:latin typeface="Algerian" panose="04020705040A02060702" pitchFamily="82" charset="0"/>
                <a:cs typeface="Times New Roman" pitchFamily="18" charset="0"/>
              </a:rPr>
              <a:t>UPLOAD/DOWNLOAD VIDEOS</a:t>
            </a:r>
          </a:p>
        </p:txBody>
      </p:sp>
      <p:sp>
        <p:nvSpPr>
          <p:cNvPr id="3" name="Content Placeholder 2"/>
          <p:cNvSpPr>
            <a:spLocks noGrp="1"/>
          </p:cNvSpPr>
          <p:nvPr>
            <p:ph idx="1"/>
          </p:nvPr>
        </p:nvSpPr>
        <p:spPr>
          <a:xfrm>
            <a:off x="228600" y="1295400"/>
            <a:ext cx="5791200" cy="4648200"/>
          </a:xfrm>
        </p:spPr>
        <p:txBody>
          <a:bodyPr>
            <a:normAutofit fontScale="92500" lnSpcReduction="10000"/>
          </a:bodyPr>
          <a:lstStyle/>
          <a:p>
            <a:pPr marL="0" indent="0" algn="just">
              <a:lnSpc>
                <a:spcPct val="150000"/>
              </a:lnSpc>
              <a:buNone/>
            </a:pPr>
            <a:r>
              <a:rPr lang="en-US" dirty="0" smtClean="0">
                <a:solidFill>
                  <a:schemeClr val="bg1"/>
                </a:solidFill>
                <a:latin typeface="Times New Roman" pitchFamily="18" charset="0"/>
                <a:cs typeface="Times New Roman" pitchFamily="18" charset="0"/>
              </a:rPr>
              <a:t>*The </a:t>
            </a:r>
            <a:r>
              <a:rPr lang="en-US" dirty="0">
                <a:solidFill>
                  <a:schemeClr val="bg1"/>
                </a:solidFill>
                <a:latin typeface="Times New Roman" pitchFamily="18" charset="0"/>
                <a:cs typeface="Times New Roman" pitchFamily="18" charset="0"/>
              </a:rPr>
              <a:t>video upload/download module in this application can staff upload the videos like code, subject name, video name and date. Student can view the video and download the videos. </a:t>
            </a:r>
          </a:p>
          <a:p>
            <a:pPr marL="0" indent="0" algn="just">
              <a:lnSpc>
                <a:spcPct val="150000"/>
              </a:lnSpc>
              <a:buNone/>
            </a:pPr>
            <a:r>
              <a:rPr lang="en-US" dirty="0" smtClean="0">
                <a:solidFill>
                  <a:schemeClr val="bg1"/>
                </a:solidFill>
                <a:latin typeface="Times New Roman" pitchFamily="18" charset="0"/>
                <a:cs typeface="Times New Roman" pitchFamily="18" charset="0"/>
              </a:rPr>
              <a:t>*Staff </a:t>
            </a:r>
            <a:r>
              <a:rPr lang="en-US" dirty="0">
                <a:solidFill>
                  <a:schemeClr val="bg1"/>
                </a:solidFill>
                <a:latin typeface="Times New Roman" pitchFamily="18" charset="0"/>
                <a:cs typeface="Times New Roman" pitchFamily="18" charset="0"/>
              </a:rPr>
              <a:t>uploads the videos like subject wise</a:t>
            </a:r>
          </a:p>
          <a:p>
            <a:pPr marL="0" indent="0" algn="just">
              <a:lnSpc>
                <a:spcPct val="150000"/>
              </a:lnSpc>
              <a:buNone/>
            </a:pPr>
            <a:r>
              <a:rPr lang="en-US" dirty="0" smtClean="0">
                <a:solidFill>
                  <a:schemeClr val="bg1"/>
                </a:solidFill>
                <a:latin typeface="Times New Roman" pitchFamily="18" charset="0"/>
                <a:cs typeface="Times New Roman" pitchFamily="18" charset="0"/>
              </a:rPr>
              <a:t>*Big </a:t>
            </a:r>
            <a:r>
              <a:rPr lang="en-US" dirty="0">
                <a:solidFill>
                  <a:schemeClr val="bg1"/>
                </a:solidFill>
                <a:latin typeface="Times New Roman" pitchFamily="18" charset="0"/>
                <a:cs typeface="Times New Roman" pitchFamily="18" charset="0"/>
              </a:rPr>
              <a:t>data</a:t>
            </a:r>
          </a:p>
          <a:p>
            <a:pPr marL="0" indent="0" algn="just">
              <a:lnSpc>
                <a:spcPct val="150000"/>
              </a:lnSpc>
              <a:buNone/>
            </a:pPr>
            <a:r>
              <a:rPr lang="en-US" dirty="0" smtClean="0">
                <a:solidFill>
                  <a:schemeClr val="bg1"/>
                </a:solidFill>
                <a:latin typeface="Times New Roman" pitchFamily="18" charset="0"/>
                <a:cs typeface="Times New Roman" pitchFamily="18" charset="0"/>
              </a:rPr>
              <a:t>*Internet </a:t>
            </a:r>
            <a:r>
              <a:rPr lang="en-US" dirty="0">
                <a:solidFill>
                  <a:schemeClr val="bg1"/>
                </a:solidFill>
                <a:latin typeface="Times New Roman" pitchFamily="18" charset="0"/>
                <a:cs typeface="Times New Roman" pitchFamily="18" charset="0"/>
              </a:rPr>
              <a:t>of Things</a:t>
            </a:r>
          </a:p>
          <a:p>
            <a:pPr marL="0" indent="0" algn="just">
              <a:lnSpc>
                <a:spcPct val="150000"/>
              </a:lnSpc>
              <a:buNone/>
            </a:pPr>
            <a:r>
              <a:rPr lang="en-US" dirty="0" smtClean="0">
                <a:solidFill>
                  <a:schemeClr val="bg1"/>
                </a:solidFill>
                <a:latin typeface="Times New Roman" pitchFamily="18" charset="0"/>
                <a:cs typeface="Times New Roman" pitchFamily="18" charset="0"/>
              </a:rPr>
              <a:t>*Python</a:t>
            </a:r>
            <a:endParaRPr lang="en-US" dirty="0">
              <a:solidFill>
                <a:schemeClr val="bg1"/>
              </a:solidFill>
              <a:latin typeface="Times New Roman" pitchFamily="18" charset="0"/>
              <a:cs typeface="Times New Roman" pitchFamily="18" charset="0"/>
            </a:endParaRPr>
          </a:p>
          <a:p>
            <a:pPr marL="0" indent="0" algn="just">
              <a:lnSpc>
                <a:spcPct val="150000"/>
              </a:lnSpc>
              <a:buNone/>
            </a:pPr>
            <a:r>
              <a:rPr lang="en-US" dirty="0" smtClean="0">
                <a:solidFill>
                  <a:schemeClr val="bg1"/>
                </a:solidFill>
                <a:latin typeface="Times New Roman" pitchFamily="18" charset="0"/>
                <a:cs typeface="Times New Roman" pitchFamily="18" charset="0"/>
              </a:rPr>
              <a:t>*Mobile </a:t>
            </a:r>
            <a:r>
              <a:rPr lang="en-US" dirty="0">
                <a:solidFill>
                  <a:schemeClr val="bg1"/>
                </a:solidFill>
                <a:latin typeface="Times New Roman" pitchFamily="18" charset="0"/>
                <a:cs typeface="Times New Roman" pitchFamily="18" charset="0"/>
              </a:rPr>
              <a:t>Security</a:t>
            </a:r>
          </a:p>
          <a:p>
            <a:pPr marL="0" indent="0" algn="just">
              <a:lnSpc>
                <a:spcPct val="150000"/>
              </a:lnSpc>
              <a:buNone/>
            </a:pPr>
            <a:endParaRPr lang="en-US" dirty="0">
              <a:latin typeface="Times New Roman" pitchFamily="18" charset="0"/>
              <a:cs typeface="Times New Roman" pitchFamily="18" charset="0"/>
            </a:endParaRPr>
          </a:p>
        </p:txBody>
      </p:sp>
      <p:sp>
        <p:nvSpPr>
          <p:cNvPr id="4" name="Rectangle 3"/>
          <p:cNvSpPr/>
          <p:nvPr/>
        </p:nvSpPr>
        <p:spPr>
          <a:xfrm>
            <a:off x="6970712" y="371446"/>
            <a:ext cx="4495800" cy="400110"/>
          </a:xfrm>
          <a:prstGeom prst="rect">
            <a:avLst/>
          </a:prstGeom>
        </p:spPr>
        <p:txBody>
          <a:bodyPr wrap="square">
            <a:spAutoFit/>
          </a:bodyPr>
          <a:lstStyle/>
          <a:p>
            <a:r>
              <a:rPr lang="en-GB" sz="2000" b="1" dirty="0">
                <a:solidFill>
                  <a:schemeClr val="bg1"/>
                </a:solidFill>
                <a:latin typeface="Algerian" panose="04020705040A02060702" pitchFamily="82" charset="0"/>
                <a:cs typeface="Times New Roman" pitchFamily="18" charset="0"/>
              </a:rPr>
              <a:t>UPLOAD/DOWNLOAD NOTES</a:t>
            </a:r>
            <a:endParaRPr lang="en-US" sz="2000" dirty="0">
              <a:solidFill>
                <a:schemeClr val="bg1"/>
              </a:solidFill>
              <a:latin typeface="Algerian" panose="04020705040A02060702" pitchFamily="82" charset="0"/>
            </a:endParaRPr>
          </a:p>
        </p:txBody>
      </p:sp>
      <p:sp>
        <p:nvSpPr>
          <p:cNvPr id="5" name="Rectangle 4"/>
          <p:cNvSpPr/>
          <p:nvPr/>
        </p:nvSpPr>
        <p:spPr>
          <a:xfrm>
            <a:off x="6248400" y="1208616"/>
            <a:ext cx="5638800" cy="3416320"/>
          </a:xfrm>
          <a:prstGeom prst="rect">
            <a:avLst/>
          </a:prstGeom>
        </p:spPr>
        <p:txBody>
          <a:bodyPr wrap="square">
            <a:spAutoFit/>
          </a:bodyPr>
          <a:lstStyle/>
          <a:p>
            <a:pPr lvl="0" algn="just">
              <a:lnSpc>
                <a:spcPct val="150000"/>
              </a:lnSpc>
            </a:pPr>
            <a:r>
              <a:rPr lang="en-US" dirty="0" smtClean="0">
                <a:solidFill>
                  <a:schemeClr val="bg1"/>
                </a:solidFill>
                <a:latin typeface="Times New Roman" pitchFamily="18" charset="0"/>
                <a:cs typeface="Times New Roman" pitchFamily="18" charset="0"/>
              </a:rPr>
              <a:t>*The </a:t>
            </a:r>
            <a:r>
              <a:rPr lang="en-US" dirty="0">
                <a:solidFill>
                  <a:schemeClr val="bg1"/>
                </a:solidFill>
                <a:latin typeface="Times New Roman" pitchFamily="18" charset="0"/>
                <a:cs typeface="Times New Roman" pitchFamily="18" charset="0"/>
              </a:rPr>
              <a:t>Notes upload/download module in this application can staff upload the notes like code, subject name, pdf and date. Student can view the notes and download the notes. </a:t>
            </a:r>
            <a:r>
              <a:rPr lang="en-US" dirty="0" smtClean="0">
                <a:solidFill>
                  <a:schemeClr val="bg1"/>
                </a:solidFill>
                <a:latin typeface="Times New Roman" pitchFamily="18" charset="0"/>
                <a:cs typeface="Times New Roman" pitchFamily="18" charset="0"/>
              </a:rPr>
              <a:t>*Staff </a:t>
            </a:r>
            <a:r>
              <a:rPr lang="en-US" dirty="0">
                <a:solidFill>
                  <a:schemeClr val="bg1"/>
                </a:solidFill>
                <a:latin typeface="Times New Roman" pitchFamily="18" charset="0"/>
                <a:cs typeface="Times New Roman" pitchFamily="18" charset="0"/>
              </a:rPr>
              <a:t>can upload the Notes like subject wise</a:t>
            </a:r>
          </a:p>
          <a:p>
            <a:pPr lvl="0" algn="just">
              <a:lnSpc>
                <a:spcPct val="150000"/>
              </a:lnSpc>
            </a:pPr>
            <a:r>
              <a:rPr lang="en-US" dirty="0" smtClean="0">
                <a:solidFill>
                  <a:schemeClr val="bg1"/>
                </a:solidFill>
                <a:latin typeface="Times New Roman" pitchFamily="18" charset="0"/>
                <a:cs typeface="Times New Roman" pitchFamily="18" charset="0"/>
              </a:rPr>
              <a:t>*Big </a:t>
            </a:r>
            <a:r>
              <a:rPr lang="en-US" dirty="0">
                <a:solidFill>
                  <a:schemeClr val="bg1"/>
                </a:solidFill>
                <a:latin typeface="Times New Roman" pitchFamily="18" charset="0"/>
                <a:cs typeface="Times New Roman" pitchFamily="18" charset="0"/>
              </a:rPr>
              <a:t>data </a:t>
            </a:r>
          </a:p>
          <a:p>
            <a:pPr lvl="0" algn="just">
              <a:lnSpc>
                <a:spcPct val="150000"/>
              </a:lnSpc>
            </a:pPr>
            <a:r>
              <a:rPr lang="en-US" dirty="0" smtClean="0">
                <a:solidFill>
                  <a:schemeClr val="bg1"/>
                </a:solidFill>
                <a:latin typeface="Times New Roman" pitchFamily="18" charset="0"/>
                <a:cs typeface="Times New Roman" pitchFamily="18" charset="0"/>
              </a:rPr>
              <a:t>*Internet </a:t>
            </a:r>
            <a:r>
              <a:rPr lang="en-US" dirty="0">
                <a:solidFill>
                  <a:schemeClr val="bg1"/>
                </a:solidFill>
                <a:latin typeface="Times New Roman" pitchFamily="18" charset="0"/>
                <a:cs typeface="Times New Roman" pitchFamily="18" charset="0"/>
              </a:rPr>
              <a:t>of Things </a:t>
            </a:r>
          </a:p>
          <a:p>
            <a:pPr lvl="0" algn="just">
              <a:lnSpc>
                <a:spcPct val="150000"/>
              </a:lnSpc>
            </a:pPr>
            <a:r>
              <a:rPr lang="en-US" dirty="0" smtClean="0">
                <a:solidFill>
                  <a:schemeClr val="bg1"/>
                </a:solidFill>
                <a:latin typeface="Times New Roman" pitchFamily="18" charset="0"/>
                <a:cs typeface="Times New Roman" pitchFamily="18" charset="0"/>
              </a:rPr>
              <a:t>*Python </a:t>
            </a:r>
            <a:endParaRPr lang="en-US" dirty="0">
              <a:solidFill>
                <a:schemeClr val="bg1"/>
              </a:solidFill>
              <a:latin typeface="Times New Roman" pitchFamily="18" charset="0"/>
              <a:cs typeface="Times New Roman" pitchFamily="18" charset="0"/>
            </a:endParaRPr>
          </a:p>
          <a:p>
            <a:pPr lvl="0" algn="just">
              <a:lnSpc>
                <a:spcPct val="150000"/>
              </a:lnSpc>
            </a:pPr>
            <a:r>
              <a:rPr lang="en-US" dirty="0" smtClean="0">
                <a:solidFill>
                  <a:schemeClr val="bg1"/>
                </a:solidFill>
                <a:latin typeface="Times New Roman" pitchFamily="18" charset="0"/>
                <a:cs typeface="Times New Roman" pitchFamily="18" charset="0"/>
              </a:rPr>
              <a:t>*Mobile </a:t>
            </a:r>
            <a:r>
              <a:rPr lang="en-US" dirty="0">
                <a:solidFill>
                  <a:schemeClr val="bg1"/>
                </a:solidFill>
                <a:latin typeface="Times New Roman" pitchFamily="18" charset="0"/>
                <a:cs typeface="Times New Roman" pitchFamily="18" charset="0"/>
              </a:rPr>
              <a:t>Security </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1" y="152400"/>
            <a:ext cx="4343399" cy="1295400"/>
          </a:xfrm>
        </p:spPr>
        <p:txBody>
          <a:bodyPr>
            <a:normAutofit/>
          </a:bodyPr>
          <a:lstStyle/>
          <a:p>
            <a:pPr>
              <a:lnSpc>
                <a:spcPct val="150000"/>
              </a:lnSpc>
            </a:pPr>
            <a:r>
              <a:rPr lang="en-US" sz="2500" b="1" dirty="0">
                <a:solidFill>
                  <a:schemeClr val="bg1"/>
                </a:solidFill>
                <a:latin typeface="Algerian" panose="04020705040A02060702" pitchFamily="82" charset="0"/>
                <a:cs typeface="Times New Roman" pitchFamily="18" charset="0"/>
              </a:rPr>
              <a:t>UPLOAD/DOWNLOAD ASSIGNMENT</a:t>
            </a:r>
          </a:p>
        </p:txBody>
      </p:sp>
      <p:sp>
        <p:nvSpPr>
          <p:cNvPr id="3" name="Content Placeholder 2"/>
          <p:cNvSpPr>
            <a:spLocks noGrp="1"/>
          </p:cNvSpPr>
          <p:nvPr>
            <p:ph idx="1"/>
          </p:nvPr>
        </p:nvSpPr>
        <p:spPr>
          <a:xfrm>
            <a:off x="304800" y="1600200"/>
            <a:ext cx="5791200" cy="4114800"/>
          </a:xfrm>
        </p:spPr>
        <p:txBody>
          <a:bodyPr>
            <a:normAutofit fontScale="85000" lnSpcReduction="10000"/>
          </a:bodyPr>
          <a:lstStyle/>
          <a:p>
            <a:pPr marL="0" lvl="0" indent="0" algn="just">
              <a:lnSpc>
                <a:spcPct val="150000"/>
              </a:lnSpc>
              <a:buNone/>
            </a:pPr>
            <a:r>
              <a:rPr lang="en-US" dirty="0" smtClean="0">
                <a:solidFill>
                  <a:schemeClr val="bg1"/>
                </a:solidFill>
                <a:latin typeface="Times New Roman" pitchFamily="18" charset="0"/>
                <a:cs typeface="Times New Roman" pitchFamily="18" charset="0"/>
              </a:rPr>
              <a:t>*The </a:t>
            </a:r>
            <a:r>
              <a:rPr lang="en-US" dirty="0">
                <a:solidFill>
                  <a:schemeClr val="bg1"/>
                </a:solidFill>
                <a:latin typeface="Times New Roman" pitchFamily="18" charset="0"/>
                <a:cs typeface="Times New Roman" pitchFamily="18" charset="0"/>
              </a:rPr>
              <a:t>Assignment upload/download module in this application can staff uploads the Assignment like code, Subject name, Topic and date. Student can view the Assignment and download the Assignment. </a:t>
            </a:r>
          </a:p>
          <a:p>
            <a:pPr marL="0" lvl="0" indent="0" algn="just">
              <a:lnSpc>
                <a:spcPct val="150000"/>
              </a:lnSpc>
              <a:buNone/>
            </a:pPr>
            <a:r>
              <a:rPr lang="en-US" dirty="0" smtClean="0">
                <a:solidFill>
                  <a:schemeClr val="bg1"/>
                </a:solidFill>
                <a:latin typeface="Times New Roman" pitchFamily="18" charset="0"/>
                <a:cs typeface="Times New Roman" pitchFamily="18" charset="0"/>
              </a:rPr>
              <a:t>*Staff </a:t>
            </a:r>
            <a:r>
              <a:rPr lang="en-US" dirty="0">
                <a:solidFill>
                  <a:schemeClr val="bg1"/>
                </a:solidFill>
                <a:latin typeface="Times New Roman" pitchFamily="18" charset="0"/>
                <a:cs typeface="Times New Roman" pitchFamily="18" charset="0"/>
              </a:rPr>
              <a:t>can upload the Assignment like subject wise</a:t>
            </a:r>
          </a:p>
          <a:p>
            <a:pPr marL="0" lvl="0" indent="0" algn="just">
              <a:lnSpc>
                <a:spcPct val="150000"/>
              </a:lnSpc>
              <a:buNone/>
            </a:pPr>
            <a:r>
              <a:rPr lang="en-US" dirty="0" smtClean="0">
                <a:solidFill>
                  <a:schemeClr val="bg1"/>
                </a:solidFill>
                <a:latin typeface="Times New Roman" pitchFamily="18" charset="0"/>
                <a:cs typeface="Times New Roman" pitchFamily="18" charset="0"/>
              </a:rPr>
              <a:t>*Big </a:t>
            </a:r>
            <a:r>
              <a:rPr lang="en-US" dirty="0">
                <a:solidFill>
                  <a:schemeClr val="bg1"/>
                </a:solidFill>
                <a:latin typeface="Times New Roman" pitchFamily="18" charset="0"/>
                <a:cs typeface="Times New Roman" pitchFamily="18" charset="0"/>
              </a:rPr>
              <a:t>data</a:t>
            </a:r>
          </a:p>
          <a:p>
            <a:pPr marL="0" lvl="0" indent="0" algn="just">
              <a:lnSpc>
                <a:spcPct val="150000"/>
              </a:lnSpc>
              <a:buNone/>
            </a:pPr>
            <a:r>
              <a:rPr lang="en-US" dirty="0" smtClean="0">
                <a:solidFill>
                  <a:schemeClr val="bg1"/>
                </a:solidFill>
                <a:latin typeface="Times New Roman" pitchFamily="18" charset="0"/>
                <a:cs typeface="Times New Roman" pitchFamily="18" charset="0"/>
              </a:rPr>
              <a:t>*Internet </a:t>
            </a:r>
            <a:r>
              <a:rPr lang="en-US" dirty="0">
                <a:solidFill>
                  <a:schemeClr val="bg1"/>
                </a:solidFill>
                <a:latin typeface="Times New Roman" pitchFamily="18" charset="0"/>
                <a:cs typeface="Times New Roman" pitchFamily="18" charset="0"/>
              </a:rPr>
              <a:t>of Things</a:t>
            </a:r>
          </a:p>
          <a:p>
            <a:pPr marL="0" lvl="0" indent="0" algn="just">
              <a:lnSpc>
                <a:spcPct val="150000"/>
              </a:lnSpc>
              <a:buNone/>
            </a:pPr>
            <a:r>
              <a:rPr lang="en-US" dirty="0" smtClean="0">
                <a:solidFill>
                  <a:schemeClr val="bg1"/>
                </a:solidFill>
                <a:latin typeface="Times New Roman" pitchFamily="18" charset="0"/>
                <a:cs typeface="Times New Roman" pitchFamily="18" charset="0"/>
              </a:rPr>
              <a:t>*Python</a:t>
            </a:r>
            <a:endParaRPr lang="en-US" dirty="0">
              <a:solidFill>
                <a:schemeClr val="bg1"/>
              </a:solidFill>
              <a:latin typeface="Times New Roman" pitchFamily="18" charset="0"/>
              <a:cs typeface="Times New Roman" pitchFamily="18" charset="0"/>
            </a:endParaRPr>
          </a:p>
          <a:p>
            <a:pPr marL="0" lvl="0" indent="0" algn="just">
              <a:lnSpc>
                <a:spcPct val="150000"/>
              </a:lnSpc>
              <a:buNone/>
            </a:pPr>
            <a:r>
              <a:rPr lang="en-US" dirty="0" smtClean="0">
                <a:solidFill>
                  <a:schemeClr val="bg1"/>
                </a:solidFill>
                <a:latin typeface="Times New Roman" pitchFamily="18" charset="0"/>
                <a:cs typeface="Times New Roman" pitchFamily="18" charset="0"/>
              </a:rPr>
              <a:t>*Mobile </a:t>
            </a:r>
            <a:r>
              <a:rPr lang="en-US" dirty="0">
                <a:solidFill>
                  <a:schemeClr val="bg1"/>
                </a:solidFill>
                <a:latin typeface="Times New Roman" pitchFamily="18" charset="0"/>
                <a:cs typeface="Times New Roman" pitchFamily="18" charset="0"/>
              </a:rPr>
              <a:t>Security</a:t>
            </a:r>
          </a:p>
        </p:txBody>
      </p:sp>
      <p:sp>
        <p:nvSpPr>
          <p:cNvPr id="4" name="Rectangle 3"/>
          <p:cNvSpPr/>
          <p:nvPr/>
        </p:nvSpPr>
        <p:spPr>
          <a:xfrm>
            <a:off x="6705600" y="457200"/>
            <a:ext cx="3581400" cy="830997"/>
          </a:xfrm>
          <a:prstGeom prst="rect">
            <a:avLst/>
          </a:prstGeom>
        </p:spPr>
        <p:txBody>
          <a:bodyPr wrap="square">
            <a:spAutoFit/>
          </a:bodyPr>
          <a:lstStyle/>
          <a:p>
            <a:r>
              <a:rPr lang="en-US" sz="2400" b="1" dirty="0">
                <a:solidFill>
                  <a:schemeClr val="bg1"/>
                </a:solidFill>
                <a:latin typeface="Algerian" panose="04020705040A02060702" pitchFamily="82" charset="0"/>
                <a:cs typeface="Times New Roman" pitchFamily="18" charset="0"/>
              </a:rPr>
              <a:t>VIEW ASSIGNMENT STATUS</a:t>
            </a:r>
            <a:endParaRPr lang="en-US" sz="2400" dirty="0">
              <a:solidFill>
                <a:schemeClr val="bg1"/>
              </a:solidFill>
              <a:latin typeface="Algerian" panose="04020705040A02060702" pitchFamily="82" charset="0"/>
            </a:endParaRPr>
          </a:p>
        </p:txBody>
      </p:sp>
      <p:sp>
        <p:nvSpPr>
          <p:cNvPr id="5" name="Rectangle 4"/>
          <p:cNvSpPr/>
          <p:nvPr/>
        </p:nvSpPr>
        <p:spPr>
          <a:xfrm>
            <a:off x="6248400" y="1600200"/>
            <a:ext cx="5562600" cy="4247317"/>
          </a:xfrm>
          <a:prstGeom prst="rect">
            <a:avLst/>
          </a:prstGeom>
        </p:spPr>
        <p:txBody>
          <a:bodyPr wrap="square">
            <a:spAutoFit/>
          </a:bodyPr>
          <a:lstStyle/>
          <a:p>
            <a:pPr algn="just">
              <a:lnSpc>
                <a:spcPct val="150000"/>
              </a:lnSpc>
            </a:pPr>
            <a:r>
              <a:rPr lang="en-US" dirty="0" smtClean="0">
                <a:solidFill>
                  <a:schemeClr val="bg1"/>
                </a:solidFill>
                <a:latin typeface="Times New Roman" pitchFamily="18" charset="0"/>
                <a:cs typeface="Times New Roman" pitchFamily="18" charset="0"/>
              </a:rPr>
              <a:t>*The </a:t>
            </a:r>
            <a:r>
              <a:rPr lang="en-US" dirty="0">
                <a:solidFill>
                  <a:schemeClr val="bg1"/>
                </a:solidFill>
                <a:latin typeface="Times New Roman" pitchFamily="18" charset="0"/>
                <a:cs typeface="Times New Roman" pitchFamily="18" charset="0"/>
              </a:rPr>
              <a:t>View Assignment status module in this application can staff view the Assignment like code, subject name, Topic and date. Student can upload the Assignment and Staff can check the Assignment status that are submitted by the students in the website.</a:t>
            </a:r>
          </a:p>
          <a:p>
            <a:pPr algn="just">
              <a:lnSpc>
                <a:spcPct val="150000"/>
              </a:lnSpc>
            </a:pPr>
            <a:r>
              <a:rPr lang="en-US" dirty="0" smtClean="0">
                <a:solidFill>
                  <a:schemeClr val="bg1"/>
                </a:solidFill>
                <a:latin typeface="Times New Roman" pitchFamily="18" charset="0"/>
                <a:cs typeface="Times New Roman" pitchFamily="18" charset="0"/>
              </a:rPr>
              <a:t>*Staff </a:t>
            </a:r>
            <a:r>
              <a:rPr lang="en-US" dirty="0">
                <a:solidFill>
                  <a:schemeClr val="bg1"/>
                </a:solidFill>
                <a:latin typeface="Times New Roman" pitchFamily="18" charset="0"/>
                <a:cs typeface="Times New Roman" pitchFamily="18" charset="0"/>
              </a:rPr>
              <a:t>can view Assignment status like subject wise</a:t>
            </a:r>
          </a:p>
          <a:p>
            <a:pPr lvl="0" algn="just">
              <a:lnSpc>
                <a:spcPct val="150000"/>
              </a:lnSpc>
            </a:pPr>
            <a:r>
              <a:rPr lang="en-US" dirty="0" smtClean="0">
                <a:solidFill>
                  <a:schemeClr val="bg1"/>
                </a:solidFill>
                <a:latin typeface="Times New Roman" pitchFamily="18" charset="0"/>
                <a:cs typeface="Times New Roman" pitchFamily="18" charset="0"/>
              </a:rPr>
              <a:t>*Big </a:t>
            </a:r>
            <a:r>
              <a:rPr lang="en-US" dirty="0">
                <a:solidFill>
                  <a:schemeClr val="bg1"/>
                </a:solidFill>
                <a:latin typeface="Times New Roman" pitchFamily="18" charset="0"/>
                <a:cs typeface="Times New Roman" pitchFamily="18" charset="0"/>
              </a:rPr>
              <a:t>data</a:t>
            </a:r>
          </a:p>
          <a:p>
            <a:pPr lvl="0" algn="just">
              <a:lnSpc>
                <a:spcPct val="150000"/>
              </a:lnSpc>
            </a:pPr>
            <a:r>
              <a:rPr lang="en-US" dirty="0" smtClean="0">
                <a:solidFill>
                  <a:schemeClr val="bg1"/>
                </a:solidFill>
                <a:latin typeface="Times New Roman" pitchFamily="18" charset="0"/>
                <a:cs typeface="Times New Roman" pitchFamily="18" charset="0"/>
              </a:rPr>
              <a:t>*Internet </a:t>
            </a:r>
            <a:r>
              <a:rPr lang="en-US" dirty="0">
                <a:solidFill>
                  <a:schemeClr val="bg1"/>
                </a:solidFill>
                <a:latin typeface="Times New Roman" pitchFamily="18" charset="0"/>
                <a:cs typeface="Times New Roman" pitchFamily="18" charset="0"/>
              </a:rPr>
              <a:t>of Things</a:t>
            </a:r>
          </a:p>
          <a:p>
            <a:pPr lvl="0" algn="just">
              <a:lnSpc>
                <a:spcPct val="150000"/>
              </a:lnSpc>
            </a:pPr>
            <a:r>
              <a:rPr lang="en-US" dirty="0" smtClean="0">
                <a:solidFill>
                  <a:schemeClr val="bg1"/>
                </a:solidFill>
                <a:latin typeface="Times New Roman" pitchFamily="18" charset="0"/>
                <a:cs typeface="Times New Roman" pitchFamily="18" charset="0"/>
              </a:rPr>
              <a:t>*Python</a:t>
            </a:r>
            <a:endParaRPr lang="en-US" dirty="0">
              <a:solidFill>
                <a:schemeClr val="bg1"/>
              </a:solidFill>
              <a:latin typeface="Times New Roman" pitchFamily="18" charset="0"/>
              <a:cs typeface="Times New Roman" pitchFamily="18" charset="0"/>
            </a:endParaRPr>
          </a:p>
          <a:p>
            <a:pPr lvl="0" algn="just">
              <a:lnSpc>
                <a:spcPct val="150000"/>
              </a:lnSpc>
            </a:pPr>
            <a:r>
              <a:rPr lang="en-US" dirty="0" smtClean="0">
                <a:solidFill>
                  <a:schemeClr val="bg1"/>
                </a:solidFill>
                <a:latin typeface="Times New Roman" pitchFamily="18" charset="0"/>
                <a:cs typeface="Times New Roman" pitchFamily="18" charset="0"/>
              </a:rPr>
              <a:t>*Mobile </a:t>
            </a:r>
            <a:r>
              <a:rPr lang="en-US" dirty="0">
                <a:solidFill>
                  <a:schemeClr val="bg1"/>
                </a:solidFill>
                <a:latin typeface="Times New Roman" pitchFamily="18" charset="0"/>
                <a:cs typeface="Times New Roman" pitchFamily="18" charset="0"/>
              </a:rPr>
              <a:t>Security</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590800"/>
            <a:ext cx="7086600" cy="990600"/>
          </a:xfrm>
        </p:spPr>
        <p:txBody>
          <a:bodyPr>
            <a:normAutofit/>
          </a:bodyPr>
          <a:lstStyle/>
          <a:p>
            <a:r>
              <a:rPr lang="en-US" sz="3500" b="1" dirty="0" smtClean="0">
                <a:solidFill>
                  <a:schemeClr val="bg1"/>
                </a:solidFill>
                <a:latin typeface="Algerian" panose="04020705040A02060702" pitchFamily="82" charset="0"/>
                <a:cs typeface="Times New Roman" pitchFamily="18" charset="0"/>
              </a:rPr>
              <a:t>Sample output</a:t>
            </a:r>
            <a:endParaRPr lang="en-US" sz="3500" b="1" dirty="0">
              <a:solidFill>
                <a:schemeClr val="bg1"/>
              </a:solidFill>
              <a:latin typeface="Algerian" panose="04020705040A02060702" pitchFamily="82" charset="0"/>
              <a:cs typeface="Times New Roman" pitchFamily="18"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1" y="-609600"/>
            <a:ext cx="9776714" cy="4038600"/>
          </a:xfrm>
        </p:spPr>
        <p:txBody>
          <a:bodyPr>
            <a:normAutofit/>
          </a:bodyPr>
          <a:lstStyle/>
          <a:p>
            <a:r>
              <a:rPr lang="en-US" sz="2500" b="1" dirty="0">
                <a:solidFill>
                  <a:schemeClr val="bg1"/>
                </a:solidFill>
                <a:latin typeface="Algerian" panose="04020705040A02060702" pitchFamily="82" charset="0"/>
                <a:cs typeface="Times New Roman" pitchFamily="18" charset="0"/>
              </a:rPr>
              <a:t>Admin Login</a:t>
            </a:r>
          </a:p>
        </p:txBody>
      </p:sp>
      <p:pic>
        <p:nvPicPr>
          <p:cNvPr id="6" name="Content Placeholder 5"/>
          <p:cNvPicPr>
            <a:picLocks noGrp="1"/>
          </p:cNvPicPr>
          <p:nvPr>
            <p:ph idx="1"/>
          </p:nvPr>
        </p:nvPicPr>
        <p:blipFill>
          <a:blip r:embed="rId2"/>
          <a:stretch>
            <a:fillRect/>
          </a:stretch>
        </p:blipFill>
        <p:spPr bwMode="auto">
          <a:xfrm>
            <a:off x="228600" y="1905000"/>
            <a:ext cx="5638800" cy="3962400"/>
          </a:xfrm>
          <a:prstGeom prst="rect">
            <a:avLst/>
          </a:prstGeom>
          <a:noFill/>
          <a:ln w="9525">
            <a:noFill/>
            <a:miter lim="800000"/>
            <a:headEnd/>
            <a:tailEnd/>
          </a:ln>
        </p:spPr>
      </p:pic>
      <p:sp>
        <p:nvSpPr>
          <p:cNvPr id="3" name="Rectangle 2"/>
          <p:cNvSpPr/>
          <p:nvPr/>
        </p:nvSpPr>
        <p:spPr>
          <a:xfrm>
            <a:off x="7086600" y="1219200"/>
            <a:ext cx="4038600" cy="400110"/>
          </a:xfrm>
          <a:prstGeom prst="rect">
            <a:avLst/>
          </a:prstGeom>
        </p:spPr>
        <p:txBody>
          <a:bodyPr wrap="square">
            <a:spAutoFit/>
          </a:bodyPr>
          <a:lstStyle/>
          <a:p>
            <a:r>
              <a:rPr lang="en-US" sz="2000" b="1" dirty="0">
                <a:solidFill>
                  <a:schemeClr val="bg1"/>
                </a:solidFill>
                <a:latin typeface="Algerian" panose="04020705040A02060702" pitchFamily="82" charset="0"/>
                <a:cs typeface="Times New Roman" pitchFamily="18" charset="0"/>
              </a:rPr>
              <a:t>Add Department</a:t>
            </a:r>
            <a:endParaRPr lang="en-US" sz="2000" dirty="0">
              <a:solidFill>
                <a:schemeClr val="bg1"/>
              </a:solidFill>
              <a:latin typeface="Algerian" panose="04020705040A02060702" pitchFamily="82" charset="0"/>
            </a:endParaRPr>
          </a:p>
        </p:txBody>
      </p:sp>
      <p:pic>
        <p:nvPicPr>
          <p:cNvPr id="7" name="Content Placeholder 5"/>
          <p:cNvPicPr>
            <a:picLocks/>
          </p:cNvPicPr>
          <p:nvPr/>
        </p:nvPicPr>
        <p:blipFill>
          <a:blip r:embed="rId3"/>
          <a:stretch>
            <a:fillRect/>
          </a:stretch>
        </p:blipFill>
        <p:spPr bwMode="auto">
          <a:xfrm>
            <a:off x="6248400" y="1905000"/>
            <a:ext cx="5562600" cy="3962401"/>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arn(inVertic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4495800" cy="2286000"/>
          </a:xfrm>
        </p:spPr>
        <p:txBody>
          <a:bodyPr>
            <a:normAutofit/>
          </a:bodyPr>
          <a:lstStyle/>
          <a:p>
            <a:r>
              <a:rPr lang="en-US" sz="2500" b="1" dirty="0">
                <a:solidFill>
                  <a:schemeClr val="bg1"/>
                </a:solidFill>
                <a:latin typeface="Algerian" panose="04020705040A02060702" pitchFamily="82" charset="0"/>
                <a:cs typeface="Times New Roman" pitchFamily="18" charset="0"/>
              </a:rPr>
              <a:t>Add Faculty</a:t>
            </a:r>
          </a:p>
        </p:txBody>
      </p:sp>
      <p:pic>
        <p:nvPicPr>
          <p:cNvPr id="6" name="Content Placeholder 5"/>
          <p:cNvPicPr>
            <a:picLocks noGrp="1"/>
          </p:cNvPicPr>
          <p:nvPr>
            <p:ph idx="1"/>
          </p:nvPr>
        </p:nvPicPr>
        <p:blipFill>
          <a:blip r:embed="rId2"/>
          <a:stretch>
            <a:fillRect/>
          </a:stretch>
        </p:blipFill>
        <p:spPr bwMode="auto">
          <a:xfrm>
            <a:off x="228600" y="1981201"/>
            <a:ext cx="5791200" cy="3886199"/>
          </a:xfrm>
          <a:prstGeom prst="rect">
            <a:avLst/>
          </a:prstGeom>
          <a:noFill/>
          <a:ln w="9525">
            <a:noFill/>
            <a:miter lim="800000"/>
            <a:headEnd/>
            <a:tailEnd/>
          </a:ln>
        </p:spPr>
      </p:pic>
      <p:sp>
        <p:nvSpPr>
          <p:cNvPr id="3" name="Rectangle 2"/>
          <p:cNvSpPr/>
          <p:nvPr/>
        </p:nvSpPr>
        <p:spPr>
          <a:xfrm>
            <a:off x="7010400" y="1219201"/>
            <a:ext cx="2286000" cy="461665"/>
          </a:xfrm>
          <a:prstGeom prst="rect">
            <a:avLst/>
          </a:prstGeom>
        </p:spPr>
        <p:txBody>
          <a:bodyPr wrap="square">
            <a:spAutoFit/>
          </a:bodyPr>
          <a:lstStyle/>
          <a:p>
            <a:r>
              <a:rPr lang="en-US" sz="2400" b="1" dirty="0">
                <a:solidFill>
                  <a:schemeClr val="bg1"/>
                </a:solidFill>
                <a:latin typeface="Algerian" panose="04020705040A02060702" pitchFamily="82" charset="0"/>
                <a:cs typeface="Times New Roman" pitchFamily="18" charset="0"/>
              </a:rPr>
              <a:t>Add Course</a:t>
            </a:r>
            <a:endParaRPr lang="en-US" sz="2400" dirty="0">
              <a:solidFill>
                <a:schemeClr val="bg1"/>
              </a:solidFill>
              <a:latin typeface="Algerian" panose="04020705040A02060702" pitchFamily="82" charset="0"/>
            </a:endParaRPr>
          </a:p>
        </p:txBody>
      </p:sp>
      <p:pic>
        <p:nvPicPr>
          <p:cNvPr id="5" name="Content Placeholder 5"/>
          <p:cNvPicPr>
            <a:picLocks/>
          </p:cNvPicPr>
          <p:nvPr/>
        </p:nvPicPr>
        <p:blipFill>
          <a:blip r:embed="rId3"/>
          <a:stretch>
            <a:fillRect/>
          </a:stretch>
        </p:blipFill>
        <p:spPr bwMode="auto">
          <a:xfrm>
            <a:off x="6324600" y="1905000"/>
            <a:ext cx="5638800" cy="403406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34400" y="533401"/>
            <a:ext cx="3429000" cy="990600"/>
          </a:xfrm>
        </p:spPr>
        <p:txBody>
          <a:bodyPr>
            <a:normAutofit/>
          </a:bodyPr>
          <a:lstStyle/>
          <a:p>
            <a:r>
              <a:rPr lang="en-US" sz="2500" b="1" dirty="0">
                <a:solidFill>
                  <a:schemeClr val="bg1"/>
                </a:solidFill>
                <a:latin typeface="Algerian" panose="04020705040A02060702" pitchFamily="82" charset="0"/>
                <a:cs typeface="Times New Roman" pitchFamily="18" charset="0"/>
              </a:rPr>
              <a:t>Add Students</a:t>
            </a:r>
          </a:p>
        </p:txBody>
      </p:sp>
      <p:pic>
        <p:nvPicPr>
          <p:cNvPr id="6" name="Content Placeholder 5"/>
          <p:cNvPicPr>
            <a:picLocks noGrp="1"/>
          </p:cNvPicPr>
          <p:nvPr>
            <p:ph idx="1"/>
          </p:nvPr>
        </p:nvPicPr>
        <p:blipFill>
          <a:blip r:embed="rId2"/>
          <a:stretch>
            <a:fillRect/>
          </a:stretch>
        </p:blipFill>
        <p:spPr bwMode="auto">
          <a:xfrm>
            <a:off x="685799" y="1676400"/>
            <a:ext cx="7656913" cy="4114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5257800" cy="3124200"/>
          </a:xfrm>
        </p:spPr>
        <p:txBody>
          <a:bodyPr>
            <a:normAutofit/>
          </a:bodyPr>
          <a:lstStyle/>
          <a:p>
            <a:r>
              <a:rPr lang="en-US" sz="2500" b="1" dirty="0">
                <a:solidFill>
                  <a:schemeClr val="bg1"/>
                </a:solidFill>
                <a:latin typeface="Algerian" panose="04020705040A02060702" pitchFamily="82" charset="0"/>
                <a:cs typeface="Times New Roman" pitchFamily="18" charset="0"/>
              </a:rPr>
              <a:t>Faculty Login</a:t>
            </a:r>
          </a:p>
        </p:txBody>
      </p:sp>
      <p:pic>
        <p:nvPicPr>
          <p:cNvPr id="6" name="Content Placeholder 5"/>
          <p:cNvPicPr>
            <a:picLocks noGrp="1"/>
          </p:cNvPicPr>
          <p:nvPr>
            <p:ph idx="1"/>
          </p:nvPr>
        </p:nvPicPr>
        <p:blipFill>
          <a:blip r:embed="rId2"/>
          <a:stretch>
            <a:fillRect/>
          </a:stretch>
        </p:blipFill>
        <p:spPr bwMode="auto">
          <a:xfrm>
            <a:off x="142284" y="1828800"/>
            <a:ext cx="5648915" cy="4038600"/>
          </a:xfrm>
          <a:prstGeom prst="rect">
            <a:avLst/>
          </a:prstGeom>
          <a:noFill/>
          <a:ln w="9525">
            <a:noFill/>
            <a:miter lim="800000"/>
            <a:headEnd/>
            <a:tailEnd/>
          </a:ln>
        </p:spPr>
      </p:pic>
      <p:sp>
        <p:nvSpPr>
          <p:cNvPr id="3" name="Rectangle 2"/>
          <p:cNvSpPr/>
          <p:nvPr/>
        </p:nvSpPr>
        <p:spPr>
          <a:xfrm>
            <a:off x="7620000" y="1219200"/>
            <a:ext cx="3429000" cy="400110"/>
          </a:xfrm>
          <a:prstGeom prst="rect">
            <a:avLst/>
          </a:prstGeom>
        </p:spPr>
        <p:txBody>
          <a:bodyPr wrap="square">
            <a:spAutoFit/>
          </a:bodyPr>
          <a:lstStyle/>
          <a:p>
            <a:r>
              <a:rPr lang="en-US" sz="2000" b="1" dirty="0">
                <a:solidFill>
                  <a:schemeClr val="bg1"/>
                </a:solidFill>
                <a:latin typeface="Algerian" panose="04020705040A02060702" pitchFamily="82" charset="0"/>
                <a:cs typeface="Times New Roman" pitchFamily="18" charset="0"/>
              </a:rPr>
              <a:t>Faculty Dashboard</a:t>
            </a:r>
            <a:endParaRPr lang="en-US" sz="2000" dirty="0">
              <a:solidFill>
                <a:schemeClr val="bg1"/>
              </a:solidFill>
              <a:latin typeface="Algerian" panose="04020705040A02060702" pitchFamily="82" charset="0"/>
            </a:endParaRPr>
          </a:p>
        </p:txBody>
      </p:sp>
      <p:pic>
        <p:nvPicPr>
          <p:cNvPr id="5" name="Content Placeholder 5"/>
          <p:cNvPicPr>
            <a:picLocks/>
          </p:cNvPicPr>
          <p:nvPr/>
        </p:nvPicPr>
        <p:blipFill>
          <a:blip r:embed="rId3"/>
          <a:stretch>
            <a:fillRect/>
          </a:stretch>
        </p:blipFill>
        <p:spPr bwMode="auto">
          <a:xfrm>
            <a:off x="6019800" y="1828800"/>
            <a:ext cx="6019800" cy="4038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5334000" cy="2590800"/>
          </a:xfrm>
        </p:spPr>
        <p:txBody>
          <a:bodyPr>
            <a:normAutofit/>
          </a:bodyPr>
          <a:lstStyle/>
          <a:p>
            <a:pPr>
              <a:lnSpc>
                <a:spcPct val="150000"/>
              </a:lnSpc>
            </a:pPr>
            <a:r>
              <a:rPr lang="en-US" sz="2500" b="1" dirty="0">
                <a:solidFill>
                  <a:schemeClr val="bg1"/>
                </a:solidFill>
                <a:latin typeface="Algerian" panose="04020705040A02060702" pitchFamily="82" charset="0"/>
                <a:cs typeface="Times New Roman" pitchFamily="18" charset="0"/>
              </a:rPr>
              <a:t>View All Department</a:t>
            </a:r>
          </a:p>
        </p:txBody>
      </p:sp>
      <p:pic>
        <p:nvPicPr>
          <p:cNvPr id="6" name="Content Placeholder 5"/>
          <p:cNvPicPr>
            <a:picLocks noGrp="1"/>
          </p:cNvPicPr>
          <p:nvPr>
            <p:ph idx="1"/>
          </p:nvPr>
        </p:nvPicPr>
        <p:blipFill>
          <a:blip r:embed="rId2"/>
          <a:stretch>
            <a:fillRect/>
          </a:stretch>
        </p:blipFill>
        <p:spPr bwMode="auto">
          <a:xfrm>
            <a:off x="152400" y="1828800"/>
            <a:ext cx="5867400" cy="3962400"/>
          </a:xfrm>
          <a:prstGeom prst="rect">
            <a:avLst/>
          </a:prstGeom>
          <a:noFill/>
          <a:ln w="9525">
            <a:noFill/>
            <a:miter lim="800000"/>
            <a:headEnd/>
            <a:tailEnd/>
          </a:ln>
        </p:spPr>
      </p:pic>
      <p:sp>
        <p:nvSpPr>
          <p:cNvPr id="3" name="Rectangle 2"/>
          <p:cNvSpPr/>
          <p:nvPr/>
        </p:nvSpPr>
        <p:spPr>
          <a:xfrm>
            <a:off x="6705600" y="990600"/>
            <a:ext cx="3048000" cy="400110"/>
          </a:xfrm>
          <a:prstGeom prst="rect">
            <a:avLst/>
          </a:prstGeom>
        </p:spPr>
        <p:txBody>
          <a:bodyPr wrap="square">
            <a:spAutoFit/>
          </a:bodyPr>
          <a:lstStyle/>
          <a:p>
            <a:r>
              <a:rPr lang="en-US" sz="2000" b="1" dirty="0">
                <a:solidFill>
                  <a:schemeClr val="bg1"/>
                </a:solidFill>
                <a:latin typeface="Algerian" panose="04020705040A02060702" pitchFamily="82" charset="0"/>
                <a:cs typeface="Times New Roman" pitchFamily="18" charset="0"/>
              </a:rPr>
              <a:t>View All Courses</a:t>
            </a:r>
            <a:endParaRPr lang="en-US" sz="2000" dirty="0">
              <a:solidFill>
                <a:schemeClr val="bg1"/>
              </a:solidFill>
              <a:latin typeface="Algerian" panose="04020705040A02060702" pitchFamily="82" charset="0"/>
            </a:endParaRPr>
          </a:p>
        </p:txBody>
      </p:sp>
      <p:pic>
        <p:nvPicPr>
          <p:cNvPr id="5" name="Content Placeholder 4"/>
          <p:cNvPicPr>
            <a:picLocks/>
          </p:cNvPicPr>
          <p:nvPr/>
        </p:nvPicPr>
        <p:blipFill>
          <a:blip r:embed="rId3"/>
          <a:stretch>
            <a:fillRect/>
          </a:stretch>
        </p:blipFill>
        <p:spPr bwMode="auto">
          <a:xfrm>
            <a:off x="6172200" y="1828800"/>
            <a:ext cx="5867400" cy="3962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245076"/>
            <a:ext cx="6930490" cy="557848"/>
          </a:xfrm>
        </p:spPr>
        <p:txBody>
          <a:bodyPr>
            <a:normAutofit fontScale="90000"/>
          </a:bodyPr>
          <a:lstStyle/>
          <a:p>
            <a:pPr>
              <a:lnSpc>
                <a:spcPct val="150000"/>
              </a:lnSpc>
            </a:pPr>
            <a:r>
              <a:rPr lang="en-US" sz="2500" b="1" dirty="0">
                <a:solidFill>
                  <a:schemeClr val="bg1"/>
                </a:solidFill>
                <a:latin typeface="Algerian" panose="04020705040A02060702" pitchFamily="82" charset="0"/>
                <a:cs typeface="Times New Roman" pitchFamily="18" charset="0"/>
              </a:rPr>
              <a:t>Add Announcement</a:t>
            </a:r>
          </a:p>
        </p:txBody>
      </p:sp>
      <p:pic>
        <p:nvPicPr>
          <p:cNvPr id="6" name="Content Placeholder 5"/>
          <p:cNvPicPr>
            <a:picLocks noGrp="1"/>
          </p:cNvPicPr>
          <p:nvPr>
            <p:ph idx="1"/>
          </p:nvPr>
        </p:nvPicPr>
        <p:blipFill>
          <a:blip r:embed="rId2"/>
          <a:stretch>
            <a:fillRect/>
          </a:stretch>
        </p:blipFill>
        <p:spPr bwMode="auto">
          <a:xfrm>
            <a:off x="152400" y="1981200"/>
            <a:ext cx="5867400" cy="4114800"/>
          </a:xfrm>
          <a:prstGeom prst="rect">
            <a:avLst/>
          </a:prstGeom>
          <a:noFill/>
          <a:ln w="9525">
            <a:noFill/>
            <a:miter lim="800000"/>
            <a:headEnd/>
            <a:tailEnd/>
          </a:ln>
        </p:spPr>
      </p:pic>
      <p:pic>
        <p:nvPicPr>
          <p:cNvPr id="4" name="Content Placeholder 5"/>
          <p:cNvPicPr>
            <a:picLocks/>
          </p:cNvPicPr>
          <p:nvPr/>
        </p:nvPicPr>
        <p:blipFill>
          <a:blip r:embed="rId3"/>
          <a:stretch>
            <a:fillRect/>
          </a:stretch>
        </p:blipFill>
        <p:spPr bwMode="auto">
          <a:xfrm>
            <a:off x="6248400" y="2081848"/>
            <a:ext cx="5715000" cy="4014152"/>
          </a:xfrm>
          <a:prstGeom prst="rect">
            <a:avLst/>
          </a:prstGeom>
          <a:noFill/>
          <a:ln w="9525">
            <a:noFill/>
            <a:miter lim="800000"/>
            <a:headEnd/>
            <a:tailEnd/>
          </a:ln>
        </p:spPr>
      </p:pic>
      <p:sp>
        <p:nvSpPr>
          <p:cNvPr id="3" name="Rectangle 2"/>
          <p:cNvSpPr/>
          <p:nvPr/>
        </p:nvSpPr>
        <p:spPr>
          <a:xfrm>
            <a:off x="7217927" y="1245076"/>
            <a:ext cx="4135873" cy="836772"/>
          </a:xfrm>
          <a:prstGeom prst="rect">
            <a:avLst/>
          </a:prstGeom>
        </p:spPr>
        <p:txBody>
          <a:bodyPr wrap="square">
            <a:spAutoFit/>
          </a:bodyPr>
          <a:lstStyle/>
          <a:p>
            <a:r>
              <a:rPr lang="en-US" sz="2400" b="1" dirty="0">
                <a:solidFill>
                  <a:schemeClr val="bg1"/>
                </a:solidFill>
                <a:latin typeface="Algerian" panose="04020705040A02060702" pitchFamily="82" charset="0"/>
                <a:cs typeface="Times New Roman" pitchFamily="18" charset="0"/>
              </a:rPr>
              <a:t>Create Assignment Details</a:t>
            </a:r>
            <a:endParaRPr lang="en-US" sz="2400" dirty="0">
              <a:solidFill>
                <a:schemeClr val="bg1"/>
              </a:solidFill>
              <a:latin typeface="Algerian" panose="04020705040A02060702" pitchFamily="82"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01142"/>
            <a:ext cx="6854290" cy="710248"/>
          </a:xfrm>
        </p:spPr>
        <p:txBody>
          <a:bodyPr>
            <a:normAutofit/>
          </a:bodyPr>
          <a:lstStyle/>
          <a:p>
            <a:pPr>
              <a:lnSpc>
                <a:spcPct val="150000"/>
              </a:lnSpc>
            </a:pPr>
            <a:r>
              <a:rPr lang="en-US" sz="2500" b="1" dirty="0">
                <a:solidFill>
                  <a:schemeClr val="bg1"/>
                </a:solidFill>
                <a:latin typeface="Algerian" panose="04020705040A02060702" pitchFamily="82" charset="0"/>
                <a:cs typeface="Times New Roman" pitchFamily="18" charset="0"/>
              </a:rPr>
              <a:t>Add Course Material</a:t>
            </a:r>
          </a:p>
        </p:txBody>
      </p:sp>
      <p:pic>
        <p:nvPicPr>
          <p:cNvPr id="4" name="Content Placeholder 3"/>
          <p:cNvPicPr>
            <a:picLocks noGrp="1"/>
          </p:cNvPicPr>
          <p:nvPr>
            <p:ph idx="1"/>
          </p:nvPr>
        </p:nvPicPr>
        <p:blipFill>
          <a:blip r:embed="rId2"/>
          <a:stretch>
            <a:fillRect/>
          </a:stretch>
        </p:blipFill>
        <p:spPr bwMode="auto">
          <a:xfrm>
            <a:off x="304800" y="2057400"/>
            <a:ext cx="5638800" cy="3962400"/>
          </a:xfrm>
          <a:prstGeom prst="rect">
            <a:avLst/>
          </a:prstGeom>
          <a:noFill/>
          <a:ln w="9525">
            <a:noFill/>
            <a:miter lim="800000"/>
            <a:headEnd/>
            <a:tailEnd/>
          </a:ln>
        </p:spPr>
      </p:pic>
      <p:pic>
        <p:nvPicPr>
          <p:cNvPr id="5" name="Content Placeholder 3"/>
          <p:cNvPicPr>
            <a:picLocks/>
          </p:cNvPicPr>
          <p:nvPr/>
        </p:nvPicPr>
        <p:blipFill>
          <a:blip r:embed="rId3"/>
          <a:stretch>
            <a:fillRect/>
          </a:stretch>
        </p:blipFill>
        <p:spPr bwMode="auto">
          <a:xfrm>
            <a:off x="6248400" y="2048806"/>
            <a:ext cx="5715000" cy="3970994"/>
          </a:xfrm>
          <a:prstGeom prst="rect">
            <a:avLst/>
          </a:prstGeom>
          <a:noFill/>
          <a:ln w="9525">
            <a:noFill/>
            <a:miter lim="800000"/>
            <a:headEnd/>
            <a:tailEnd/>
          </a:ln>
        </p:spPr>
      </p:pic>
      <p:sp>
        <p:nvSpPr>
          <p:cNvPr id="3" name="Rectangle 2"/>
          <p:cNvSpPr/>
          <p:nvPr/>
        </p:nvSpPr>
        <p:spPr>
          <a:xfrm>
            <a:off x="6781800" y="1371600"/>
            <a:ext cx="3429000" cy="400110"/>
          </a:xfrm>
          <a:prstGeom prst="rect">
            <a:avLst/>
          </a:prstGeom>
        </p:spPr>
        <p:txBody>
          <a:bodyPr wrap="square">
            <a:spAutoFit/>
          </a:bodyPr>
          <a:lstStyle/>
          <a:p>
            <a:r>
              <a:rPr lang="en-US" sz="2000" b="1" dirty="0">
                <a:solidFill>
                  <a:schemeClr val="bg1"/>
                </a:solidFill>
                <a:latin typeface="Algerian" panose="04020705040A02060702" pitchFamily="82" charset="0"/>
                <a:cs typeface="Times New Roman" pitchFamily="18" charset="0"/>
              </a:rPr>
              <a:t>Faculty Dashboard</a:t>
            </a:r>
            <a:endParaRPr lang="en-US" sz="2000" dirty="0">
              <a:solidFill>
                <a:schemeClr val="bg1"/>
              </a:solidFill>
              <a:latin typeface="Algerian" panose="04020705040A02060702" pitchFamily="82"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712232"/>
            <a:ext cx="3810000" cy="1143000"/>
          </a:xfrm>
        </p:spPr>
        <p:txBody>
          <a:bodyPr>
            <a:normAutofit/>
          </a:bodyPr>
          <a:lstStyle/>
          <a:p>
            <a:pPr>
              <a:lnSpc>
                <a:spcPct val="150000"/>
              </a:lnSpc>
            </a:pPr>
            <a:r>
              <a:rPr lang="en-US" sz="2500" b="1" dirty="0">
                <a:solidFill>
                  <a:schemeClr val="bg1"/>
                </a:solidFill>
                <a:latin typeface="Algerian" panose="04020705040A02060702" pitchFamily="82" charset="0"/>
                <a:cs typeface="Times New Roman" pitchFamily="18" charset="0"/>
              </a:rPr>
              <a:t>Students Login</a:t>
            </a:r>
          </a:p>
        </p:txBody>
      </p:sp>
      <p:pic>
        <p:nvPicPr>
          <p:cNvPr id="4" name="Content Placeholder 3"/>
          <p:cNvPicPr>
            <a:picLocks noGrp="1"/>
          </p:cNvPicPr>
          <p:nvPr>
            <p:ph idx="1"/>
          </p:nvPr>
        </p:nvPicPr>
        <p:blipFill>
          <a:blip r:embed="rId2"/>
          <a:stretch>
            <a:fillRect/>
          </a:stretch>
        </p:blipFill>
        <p:spPr bwMode="auto">
          <a:xfrm>
            <a:off x="152400" y="1752600"/>
            <a:ext cx="5791200" cy="4186462"/>
          </a:xfrm>
          <a:prstGeom prst="rect">
            <a:avLst/>
          </a:prstGeom>
          <a:noFill/>
          <a:ln w="9525">
            <a:noFill/>
            <a:miter lim="800000"/>
            <a:headEnd/>
            <a:tailEnd/>
          </a:ln>
        </p:spPr>
      </p:pic>
      <p:pic>
        <p:nvPicPr>
          <p:cNvPr id="5" name="Content Placeholder 3"/>
          <p:cNvPicPr>
            <a:picLocks/>
          </p:cNvPicPr>
          <p:nvPr/>
        </p:nvPicPr>
        <p:blipFill>
          <a:blip r:embed="rId3"/>
          <a:stretch>
            <a:fillRect/>
          </a:stretch>
        </p:blipFill>
        <p:spPr bwMode="auto">
          <a:xfrm>
            <a:off x="6172200" y="1752600"/>
            <a:ext cx="5791200" cy="4186462"/>
          </a:xfrm>
          <a:prstGeom prst="rect">
            <a:avLst/>
          </a:prstGeom>
          <a:noFill/>
          <a:ln w="9525">
            <a:noFill/>
            <a:miter lim="800000"/>
            <a:headEnd/>
            <a:tailEnd/>
          </a:ln>
        </p:spPr>
      </p:pic>
      <p:sp>
        <p:nvSpPr>
          <p:cNvPr id="6" name="Rectangle 5"/>
          <p:cNvSpPr/>
          <p:nvPr/>
        </p:nvSpPr>
        <p:spPr>
          <a:xfrm>
            <a:off x="6858000" y="1143000"/>
            <a:ext cx="3733800" cy="400110"/>
          </a:xfrm>
          <a:prstGeom prst="rect">
            <a:avLst/>
          </a:prstGeom>
        </p:spPr>
        <p:txBody>
          <a:bodyPr wrap="square">
            <a:spAutoFit/>
          </a:bodyPr>
          <a:lstStyle/>
          <a:p>
            <a:r>
              <a:rPr lang="en-US" sz="2000" b="1" dirty="0">
                <a:solidFill>
                  <a:schemeClr val="bg1"/>
                </a:solidFill>
                <a:latin typeface="Algerian" panose="04020705040A02060702" pitchFamily="82" charset="0"/>
                <a:cs typeface="Times New Roman" pitchFamily="18" charset="0"/>
              </a:rPr>
              <a:t>Students Dashboard</a:t>
            </a:r>
            <a:endParaRPr lang="en-US" sz="2000" dirty="0">
              <a:solidFill>
                <a:schemeClr val="bg1"/>
              </a:solidFill>
              <a:latin typeface="Algerian" panose="04020705040A02060702" pitchFamily="82"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533400"/>
            <a:ext cx="5105400" cy="1371600"/>
          </a:xfrm>
        </p:spPr>
        <p:txBody>
          <a:bodyPr>
            <a:normAutofit/>
          </a:bodyPr>
          <a:lstStyle/>
          <a:p>
            <a:pPr>
              <a:lnSpc>
                <a:spcPct val="150000"/>
              </a:lnSpc>
            </a:pPr>
            <a:r>
              <a:rPr lang="en-US" sz="2500" b="1" dirty="0">
                <a:solidFill>
                  <a:schemeClr val="bg1"/>
                </a:solidFill>
                <a:latin typeface="Algerian" panose="04020705040A02060702" pitchFamily="82" charset="0"/>
                <a:cs typeface="Times New Roman" pitchFamily="18" charset="0"/>
              </a:rPr>
              <a:t>Students View Assignment Details</a:t>
            </a:r>
          </a:p>
        </p:txBody>
      </p:sp>
      <p:pic>
        <p:nvPicPr>
          <p:cNvPr id="4" name="Content Placeholder 3"/>
          <p:cNvPicPr>
            <a:picLocks noGrp="1"/>
          </p:cNvPicPr>
          <p:nvPr>
            <p:ph idx="1"/>
          </p:nvPr>
        </p:nvPicPr>
        <p:blipFill>
          <a:blip r:embed="rId2"/>
          <a:stretch>
            <a:fillRect/>
          </a:stretch>
        </p:blipFill>
        <p:spPr bwMode="auto">
          <a:xfrm>
            <a:off x="76200" y="1828800"/>
            <a:ext cx="6096000" cy="4114800"/>
          </a:xfrm>
          <a:prstGeom prst="rect">
            <a:avLst/>
          </a:prstGeom>
          <a:noFill/>
          <a:ln w="9525">
            <a:noFill/>
            <a:miter lim="800000"/>
            <a:headEnd/>
            <a:tailEnd/>
          </a:ln>
        </p:spPr>
      </p:pic>
      <p:pic>
        <p:nvPicPr>
          <p:cNvPr id="5" name="Content Placeholder 3"/>
          <p:cNvPicPr>
            <a:picLocks/>
          </p:cNvPicPr>
          <p:nvPr/>
        </p:nvPicPr>
        <p:blipFill>
          <a:blip r:embed="rId3"/>
          <a:stretch>
            <a:fillRect/>
          </a:stretch>
        </p:blipFill>
        <p:spPr bwMode="auto">
          <a:xfrm>
            <a:off x="6400800" y="1828800"/>
            <a:ext cx="5715000" cy="4114800"/>
          </a:xfrm>
          <a:prstGeom prst="rect">
            <a:avLst/>
          </a:prstGeom>
          <a:noFill/>
          <a:ln w="9525">
            <a:noFill/>
            <a:miter lim="800000"/>
            <a:headEnd/>
            <a:tailEnd/>
          </a:ln>
        </p:spPr>
      </p:pic>
      <p:sp>
        <p:nvSpPr>
          <p:cNvPr id="3" name="Rectangle 2"/>
          <p:cNvSpPr/>
          <p:nvPr/>
        </p:nvSpPr>
        <p:spPr>
          <a:xfrm>
            <a:off x="6553200" y="1219200"/>
            <a:ext cx="5410200" cy="461665"/>
          </a:xfrm>
          <a:prstGeom prst="rect">
            <a:avLst/>
          </a:prstGeom>
        </p:spPr>
        <p:txBody>
          <a:bodyPr wrap="square">
            <a:spAutoFit/>
          </a:bodyPr>
          <a:lstStyle/>
          <a:p>
            <a:r>
              <a:rPr lang="en-US" sz="2400" b="1" dirty="0">
                <a:solidFill>
                  <a:schemeClr val="bg1"/>
                </a:solidFill>
                <a:latin typeface="Algerian" panose="04020705040A02060702" pitchFamily="82" charset="0"/>
                <a:cs typeface="Times New Roman" pitchFamily="18" charset="0"/>
              </a:rPr>
              <a:t>Students Submit Assignment</a:t>
            </a:r>
            <a:endParaRPr lang="en-US" sz="2400" dirty="0">
              <a:solidFill>
                <a:schemeClr val="bg1"/>
              </a:solidFill>
              <a:latin typeface="Algerian" panose="04020705040A02060702" pitchFamily="82"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1"/>
            <a:ext cx="8913812" cy="990600"/>
          </a:xfrm>
        </p:spPr>
        <p:txBody>
          <a:bodyPr>
            <a:normAutofit/>
          </a:bodyPr>
          <a:lstStyle/>
          <a:p>
            <a:pPr>
              <a:lnSpc>
                <a:spcPct val="150000"/>
              </a:lnSpc>
            </a:pPr>
            <a:r>
              <a:rPr lang="en-US" sz="2400" b="1" dirty="0" smtClean="0">
                <a:solidFill>
                  <a:schemeClr val="bg1"/>
                </a:solidFill>
                <a:latin typeface="Algerian" panose="04020705040A02060702" pitchFamily="82" charset="0"/>
                <a:cs typeface="Times New Roman" pitchFamily="18" charset="0"/>
              </a:rPr>
              <a:t>After view assignment status</a:t>
            </a:r>
            <a:endParaRPr lang="en-US" sz="2400" b="1" dirty="0">
              <a:solidFill>
                <a:schemeClr val="bg1"/>
              </a:solidFill>
              <a:latin typeface="Algerian" panose="04020705040A02060702" pitchFamily="82" charset="0"/>
              <a:cs typeface="Times New Roman" pitchFamily="18" charset="0"/>
            </a:endParaRPr>
          </a:p>
        </p:txBody>
      </p:sp>
      <p:pic>
        <p:nvPicPr>
          <p:cNvPr id="4" name="Content Placeholder 3"/>
          <p:cNvPicPr>
            <a:picLocks noGrp="1"/>
          </p:cNvPicPr>
          <p:nvPr>
            <p:ph idx="1"/>
          </p:nvPr>
        </p:nvPicPr>
        <p:blipFill>
          <a:blip r:embed="rId2"/>
          <a:stretch>
            <a:fillRect/>
          </a:stretch>
        </p:blipFill>
        <p:spPr bwMode="auto">
          <a:xfrm>
            <a:off x="326378" y="2133600"/>
            <a:ext cx="5769621" cy="3810000"/>
          </a:xfrm>
          <a:prstGeom prst="rect">
            <a:avLst/>
          </a:prstGeom>
          <a:noFill/>
          <a:ln w="9525">
            <a:noFill/>
            <a:miter lim="800000"/>
            <a:headEnd/>
            <a:tailEnd/>
          </a:ln>
        </p:spPr>
      </p:pic>
      <p:pic>
        <p:nvPicPr>
          <p:cNvPr id="5" name="Content Placeholder 3"/>
          <p:cNvPicPr>
            <a:picLocks/>
          </p:cNvPicPr>
          <p:nvPr/>
        </p:nvPicPr>
        <p:blipFill>
          <a:blip r:embed="rId3"/>
          <a:stretch>
            <a:fillRect/>
          </a:stretch>
        </p:blipFill>
        <p:spPr bwMode="auto">
          <a:xfrm>
            <a:off x="6324600" y="2133601"/>
            <a:ext cx="5715000" cy="3733800"/>
          </a:xfrm>
          <a:prstGeom prst="rect">
            <a:avLst/>
          </a:prstGeom>
          <a:noFill/>
          <a:ln w="9525">
            <a:noFill/>
            <a:miter lim="800000"/>
            <a:headEnd/>
            <a:tailEnd/>
          </a:ln>
        </p:spPr>
      </p:pic>
      <p:sp>
        <p:nvSpPr>
          <p:cNvPr id="3" name="Rectangle 2"/>
          <p:cNvSpPr/>
          <p:nvPr/>
        </p:nvSpPr>
        <p:spPr>
          <a:xfrm>
            <a:off x="7467599" y="1228305"/>
            <a:ext cx="3352800" cy="400110"/>
          </a:xfrm>
          <a:prstGeom prst="rect">
            <a:avLst/>
          </a:prstGeom>
        </p:spPr>
        <p:txBody>
          <a:bodyPr wrap="square">
            <a:spAutoFit/>
          </a:bodyPr>
          <a:lstStyle/>
          <a:p>
            <a:r>
              <a:rPr lang="en-US" sz="2000" b="1" dirty="0">
                <a:solidFill>
                  <a:schemeClr val="bg1"/>
                </a:solidFill>
                <a:latin typeface="Algerian" panose="04020705040A02060702" pitchFamily="82" charset="0"/>
                <a:cs typeface="Times New Roman" pitchFamily="18" charset="0"/>
              </a:rPr>
              <a:t>Students Discussion</a:t>
            </a:r>
            <a:endParaRPr lang="en-US" sz="2000" dirty="0">
              <a:solidFill>
                <a:schemeClr val="bg1"/>
              </a:solidFill>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76200"/>
            <a:ext cx="8534400" cy="1507067"/>
          </a:xfrm>
        </p:spPr>
        <p:txBody>
          <a:bodyPr>
            <a:normAutofit/>
          </a:bodyPr>
          <a:lstStyle/>
          <a:p>
            <a:pPr>
              <a:lnSpc>
                <a:spcPct val="150000"/>
              </a:lnSpc>
            </a:pPr>
            <a:r>
              <a:rPr lang="en-US" sz="2500" b="1" dirty="0">
                <a:solidFill>
                  <a:schemeClr val="bg1"/>
                </a:solidFill>
                <a:latin typeface="Algerian" panose="04020705040A02060702" pitchFamily="82" charset="0"/>
                <a:cs typeface="Times New Roman" pitchFamily="18" charset="0"/>
              </a:rPr>
              <a:t>Faculty Reply Discussion Content</a:t>
            </a:r>
          </a:p>
        </p:txBody>
      </p:sp>
      <p:pic>
        <p:nvPicPr>
          <p:cNvPr id="4" name="Content Placeholder 3"/>
          <p:cNvPicPr>
            <a:picLocks noGrp="1"/>
          </p:cNvPicPr>
          <p:nvPr>
            <p:ph idx="1"/>
          </p:nvPr>
        </p:nvPicPr>
        <p:blipFill>
          <a:blip r:embed="rId2"/>
          <a:stretch>
            <a:fillRect/>
          </a:stretch>
        </p:blipFill>
        <p:spPr bwMode="auto">
          <a:xfrm>
            <a:off x="1143000" y="1583267"/>
            <a:ext cx="7352113" cy="4419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304800"/>
            <a:ext cx="7795515" cy="1219200"/>
          </a:xfrm>
        </p:spPr>
        <p:txBody>
          <a:bodyPr>
            <a:normAutofit/>
          </a:bodyPr>
          <a:lstStyle/>
          <a:p>
            <a:pPr>
              <a:lnSpc>
                <a:spcPct val="150000"/>
              </a:lnSpc>
            </a:pPr>
            <a:r>
              <a:rPr lang="en-US" sz="2500" b="1" dirty="0">
                <a:solidFill>
                  <a:schemeClr val="bg1"/>
                </a:solidFill>
                <a:latin typeface="Algerian" panose="04020705040A02060702" pitchFamily="82" charset="0"/>
                <a:cs typeface="Times New Roman" pitchFamily="18" charset="0"/>
              </a:rPr>
              <a:t>Faculty Take Attendance on Course Based</a:t>
            </a:r>
          </a:p>
        </p:txBody>
      </p:sp>
      <p:pic>
        <p:nvPicPr>
          <p:cNvPr id="4" name="Content Placeholder 3"/>
          <p:cNvPicPr>
            <a:picLocks noGrp="1"/>
          </p:cNvPicPr>
          <p:nvPr>
            <p:ph idx="1"/>
          </p:nvPr>
        </p:nvPicPr>
        <p:blipFill>
          <a:blip r:embed="rId2"/>
          <a:stretch>
            <a:fillRect/>
          </a:stretch>
        </p:blipFill>
        <p:spPr bwMode="auto">
          <a:xfrm>
            <a:off x="1676400" y="1600200"/>
            <a:ext cx="7123513" cy="4419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48200" y="609600"/>
            <a:ext cx="5410200" cy="1219200"/>
          </a:xfrm>
        </p:spPr>
        <p:txBody>
          <a:bodyPr>
            <a:normAutofit/>
          </a:bodyPr>
          <a:lstStyle/>
          <a:p>
            <a:r>
              <a:rPr lang="en-US" sz="2800" b="1" dirty="0">
                <a:solidFill>
                  <a:schemeClr val="bg1"/>
                </a:solidFill>
                <a:latin typeface="Algerian" panose="04020705040A02060702" pitchFamily="82" charset="0"/>
                <a:cs typeface="Times New Roman" pitchFamily="18" charset="0"/>
              </a:rPr>
              <a:t>CONCLUSION</a:t>
            </a:r>
          </a:p>
        </p:txBody>
      </p:sp>
      <p:sp>
        <p:nvSpPr>
          <p:cNvPr id="3" name="Content Placeholder 2"/>
          <p:cNvSpPr>
            <a:spLocks noGrp="1"/>
          </p:cNvSpPr>
          <p:nvPr>
            <p:ph idx="1"/>
          </p:nvPr>
        </p:nvSpPr>
        <p:spPr>
          <a:xfrm>
            <a:off x="1828800" y="1273821"/>
            <a:ext cx="8229600" cy="5105400"/>
          </a:xfrm>
        </p:spPr>
        <p:txBody>
          <a:bodyPr>
            <a:normAutofit/>
          </a:bodyPr>
          <a:lstStyle/>
          <a:p>
            <a:endParaRPr lang="en-US" sz="1600" b="1" i="1" dirty="0"/>
          </a:p>
          <a:p>
            <a:pPr marL="0" indent="0" algn="just">
              <a:lnSpc>
                <a:spcPct val="150000"/>
              </a:lnSpc>
              <a:buNone/>
            </a:pPr>
            <a:r>
              <a:rPr lang="en-US" b="1" dirty="0">
                <a:latin typeface="Times New Roman" pitchFamily="18" charset="0"/>
                <a:cs typeface="Times New Roman" pitchFamily="18" charset="0"/>
              </a:rPr>
              <a:t>                                               </a:t>
            </a:r>
            <a:endParaRPr lang="en-US" sz="2400" dirty="0">
              <a:latin typeface="Algerian" panose="04020705040A02060702" pitchFamily="82" charset="0"/>
              <a:cs typeface="Times New Roman" pitchFamily="18" charset="0"/>
            </a:endParaRPr>
          </a:p>
        </p:txBody>
      </p:sp>
      <p:sp>
        <p:nvSpPr>
          <p:cNvPr id="10" name="Rectangle 9"/>
          <p:cNvSpPr/>
          <p:nvPr/>
        </p:nvSpPr>
        <p:spPr>
          <a:xfrm>
            <a:off x="4724400" y="3810001"/>
            <a:ext cx="2971800" cy="582082"/>
          </a:xfrm>
          <a:prstGeom prst="rect">
            <a:avLst/>
          </a:prstGeom>
        </p:spPr>
        <p:txBody>
          <a:bodyPr wrap="square">
            <a:spAutoFit/>
          </a:bodyPr>
          <a:lstStyle/>
          <a:p>
            <a:pPr algn="just">
              <a:lnSpc>
                <a:spcPct val="150000"/>
              </a:lnSpc>
            </a:pPr>
            <a:r>
              <a:rPr lang="en-US" sz="2400" b="1" dirty="0">
                <a:solidFill>
                  <a:schemeClr val="bg1"/>
                </a:solidFill>
                <a:latin typeface="Algerian" panose="04020705040A02060702" pitchFamily="82" charset="0"/>
                <a:cs typeface="Times New Roman" pitchFamily="18" charset="0"/>
              </a:rPr>
              <a:t>FUTURE WORK</a:t>
            </a:r>
            <a:endParaRPr lang="en-US" sz="2400" dirty="0">
              <a:solidFill>
                <a:schemeClr val="bg1"/>
              </a:solidFill>
              <a:latin typeface="Algerian" panose="04020705040A02060702" pitchFamily="82" charset="0"/>
              <a:cs typeface="Times New Roman" pitchFamily="18" charset="0"/>
            </a:endParaRPr>
          </a:p>
        </p:txBody>
      </p:sp>
      <p:sp>
        <p:nvSpPr>
          <p:cNvPr id="12" name="Rectangle 11"/>
          <p:cNvSpPr/>
          <p:nvPr/>
        </p:nvSpPr>
        <p:spPr>
          <a:xfrm>
            <a:off x="1676400" y="1676400"/>
            <a:ext cx="7467600" cy="1754326"/>
          </a:xfrm>
          <a:prstGeom prst="rect">
            <a:avLst/>
          </a:prstGeom>
        </p:spPr>
        <p:txBody>
          <a:bodyPr wrap="square">
            <a:spAutoFit/>
          </a:bodyPr>
          <a:lstStyle/>
          <a:p>
            <a:r>
              <a:rPr lang="en-US" i="1" dirty="0">
                <a:solidFill>
                  <a:schemeClr val="bg1"/>
                </a:solidFill>
                <a:latin typeface="Agency FB" panose="020B0503020202020204" pitchFamily="34" charset="0"/>
              </a:rPr>
              <a:t>*</a:t>
            </a:r>
            <a:r>
              <a:rPr lang="en-US" i="1" dirty="0">
                <a:solidFill>
                  <a:schemeClr val="bg1"/>
                </a:solidFill>
                <a:latin typeface="Times New Roman" panose="02020603050405020304" pitchFamily="18" charset="0"/>
                <a:cs typeface="Times New Roman" panose="02020603050405020304" pitchFamily="18" charset="0"/>
              </a:rPr>
              <a:t>The research developed a Web-based Virtual Classroom System (</a:t>
            </a:r>
            <a:r>
              <a:rPr lang="en-US" i="1" dirty="0" err="1">
                <a:solidFill>
                  <a:schemeClr val="bg1"/>
                </a:solidFill>
                <a:latin typeface="Times New Roman" panose="02020603050405020304" pitchFamily="18" charset="0"/>
                <a:cs typeface="Times New Roman" panose="02020603050405020304" pitchFamily="18" charset="0"/>
              </a:rPr>
              <a:t>WebVCS</a:t>
            </a:r>
            <a:r>
              <a:rPr lang="en-US" i="1" dirty="0">
                <a:solidFill>
                  <a:schemeClr val="bg1"/>
                </a:solidFill>
                <a:latin typeface="Times New Roman" panose="02020603050405020304" pitchFamily="18" charset="0"/>
                <a:cs typeface="Times New Roman" panose="02020603050405020304" pitchFamily="18" charset="0"/>
              </a:rPr>
              <a:t>) as an alternative to traditional teaching and learning. </a:t>
            </a:r>
          </a:p>
          <a:p>
            <a:r>
              <a:rPr lang="en-US" i="1" dirty="0">
                <a:solidFill>
                  <a:schemeClr val="bg1"/>
                </a:solidFill>
                <a:latin typeface="Times New Roman" panose="02020603050405020304" pitchFamily="18" charset="0"/>
                <a:cs typeface="Times New Roman" panose="02020603050405020304" pitchFamily="18" charset="0"/>
              </a:rPr>
              <a:t>*It can improve access to quality education. </a:t>
            </a:r>
          </a:p>
          <a:p>
            <a:r>
              <a:rPr lang="en-US" i="1" dirty="0">
                <a:solidFill>
                  <a:schemeClr val="bg1"/>
                </a:solidFill>
                <a:latin typeface="Times New Roman" panose="02020603050405020304" pitchFamily="18" charset="0"/>
                <a:cs typeface="Times New Roman" panose="02020603050405020304" pitchFamily="18" charset="0"/>
              </a:rPr>
              <a:t>*Government agencies should collaborate to implement and commercialize the </a:t>
            </a:r>
            <a:r>
              <a:rPr lang="en-US" i="1" dirty="0" err="1">
                <a:solidFill>
                  <a:schemeClr val="bg1"/>
                </a:solidFill>
                <a:latin typeface="Times New Roman" panose="02020603050405020304" pitchFamily="18" charset="0"/>
                <a:cs typeface="Times New Roman" panose="02020603050405020304" pitchFamily="18" charset="0"/>
              </a:rPr>
              <a:t>WebVCS</a:t>
            </a:r>
            <a:r>
              <a:rPr lang="en-US" i="1" dirty="0">
                <a:solidFill>
                  <a:schemeClr val="bg1"/>
                </a:solidFill>
                <a:latin typeface="Times New Roman" panose="02020603050405020304" pitchFamily="18" charset="0"/>
                <a:cs typeface="Times New Roman" panose="02020603050405020304" pitchFamily="18" charset="0"/>
              </a:rPr>
              <a:t> model. </a:t>
            </a:r>
          </a:p>
          <a:p>
            <a:r>
              <a:rPr lang="en-US" i="1" dirty="0">
                <a:solidFill>
                  <a:schemeClr val="bg1"/>
                </a:solidFill>
                <a:latin typeface="Times New Roman" panose="02020603050405020304" pitchFamily="18" charset="0"/>
                <a:cs typeface="Times New Roman" panose="02020603050405020304" pitchFamily="18" charset="0"/>
              </a:rPr>
              <a:t>*Internet and computers should be made available, especially in remote areas.</a:t>
            </a:r>
          </a:p>
        </p:txBody>
      </p:sp>
      <p:sp>
        <p:nvSpPr>
          <p:cNvPr id="13" name="Rectangle 12"/>
          <p:cNvSpPr/>
          <p:nvPr/>
        </p:nvSpPr>
        <p:spPr>
          <a:xfrm>
            <a:off x="1822731" y="4724400"/>
            <a:ext cx="7924800" cy="1200329"/>
          </a:xfrm>
          <a:prstGeom prst="rect">
            <a:avLst/>
          </a:prstGeom>
        </p:spPr>
        <p:txBody>
          <a:bodyPr wrap="square">
            <a:spAutoFit/>
          </a:bodyPr>
          <a:lstStyle/>
          <a:p>
            <a:pPr lvl="0" eaLnBrk="0" fontAlgn="base" hangingPunct="0">
              <a:spcBef>
                <a:spcPct val="0"/>
              </a:spcBef>
              <a:spcAft>
                <a:spcPct val="0"/>
              </a:spcAft>
              <a:buFontTx/>
              <a:buChar char="•"/>
            </a:pPr>
            <a:r>
              <a:rPr lang="en-US" i="1" dirty="0">
                <a:solidFill>
                  <a:schemeClr val="bg1"/>
                </a:solidFill>
                <a:latin typeface="Times New Roman" panose="02020603050405020304" pitchFamily="18" charset="0"/>
                <a:cs typeface="Times New Roman" panose="02020603050405020304" pitchFamily="18" charset="0"/>
              </a:rPr>
              <a:t>E-learning is the future and will become more accessible as computer ownership increases.</a:t>
            </a:r>
          </a:p>
          <a:p>
            <a:pPr lvl="0" eaLnBrk="0" fontAlgn="base" hangingPunct="0">
              <a:spcBef>
                <a:spcPct val="0"/>
              </a:spcBef>
              <a:spcAft>
                <a:spcPct val="0"/>
              </a:spcAft>
              <a:buFontTx/>
              <a:buChar char="•"/>
            </a:pPr>
            <a:r>
              <a:rPr lang="en-US" i="1" dirty="0">
                <a:solidFill>
                  <a:schemeClr val="bg1"/>
                </a:solidFill>
                <a:latin typeface="Times New Roman" panose="02020603050405020304" pitchFamily="18" charset="0"/>
                <a:cs typeface="Times New Roman" panose="02020603050405020304" pitchFamily="18" charset="0"/>
              </a:rPr>
              <a:t>Faster internet enables better multimedia and online learning experiences.</a:t>
            </a:r>
          </a:p>
          <a:p>
            <a:pPr lvl="0" eaLnBrk="0" fontAlgn="base" hangingPunct="0">
              <a:spcBef>
                <a:spcPct val="0"/>
              </a:spcBef>
              <a:spcAft>
                <a:spcPct val="0"/>
              </a:spcAft>
              <a:buFontTx/>
              <a:buChar char="•"/>
            </a:pPr>
            <a:r>
              <a:rPr lang="en-US" i="1" dirty="0">
                <a:solidFill>
                  <a:schemeClr val="bg1"/>
                </a:solidFill>
                <a:latin typeface="Times New Roman" panose="02020603050405020304" pitchFamily="18" charset="0"/>
                <a:cs typeface="Times New Roman" panose="02020603050405020304" pitchFamily="18" charset="0"/>
              </a:rPr>
              <a:t>Online and hybrid learning are becoming increasingly popular among students</a:t>
            </a:r>
            <a:r>
              <a:rPr lang="en-US" i="1" dirty="0">
                <a:solidFill>
                  <a:schemeClr val="bg1"/>
                </a:solidFill>
                <a:latin typeface="Agency FB" panose="020B0503020202020204" pitchFamily="34" charset="0"/>
              </a:rPr>
              <a:t>.</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438400"/>
            <a:ext cx="8229600" cy="1143000"/>
          </a:xfrm>
        </p:spPr>
        <p:txBody>
          <a:bodyPr>
            <a:normAutofit/>
          </a:bodyPr>
          <a:lstStyle/>
          <a:p>
            <a:pPr>
              <a:lnSpc>
                <a:spcPct val="150000"/>
              </a:lnSpc>
            </a:pPr>
            <a:r>
              <a:rPr lang="en-US" sz="3500" b="1" dirty="0">
                <a:solidFill>
                  <a:schemeClr val="bg1"/>
                </a:solidFill>
                <a:latin typeface="Algerian" panose="04020705040A02060702" pitchFamily="82" charset="0"/>
                <a:cs typeface="Times New Roman" pitchFamily="18" charset="0"/>
              </a:rPr>
              <a:t>THANK YOU</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Wisp</Template>
  <TotalTime>524</TotalTime>
  <Words>847</Words>
  <Application>Microsoft Office PowerPoint</Application>
  <PresentationFormat>Widescreen</PresentationFormat>
  <Paragraphs>111</Paragraphs>
  <Slides>26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26</vt:i4>
      </vt:variant>
    </vt:vector>
  </HeadingPairs>
  <TitlesOfParts>
    <vt:vector size="35" baseType="lpstr">
      <vt:lpstr>Agency FB</vt:lpstr>
      <vt:lpstr>Algerian</vt:lpstr>
      <vt:lpstr>Calibri</vt:lpstr>
      <vt:lpstr>Cambria</vt:lpstr>
      <vt:lpstr>Century Gothic</vt:lpstr>
      <vt:lpstr>Rockwell Extra Bold</vt:lpstr>
      <vt:lpstr>Times New Roman</vt:lpstr>
      <vt:lpstr>Wingdings 3</vt:lpstr>
      <vt:lpstr>Slice</vt:lpstr>
      <vt:lpstr>PowerPoint Presentation</vt:lpstr>
      <vt:lpstr>VIRTUAL CLASSROOM SYSTEM</vt:lpstr>
      <vt:lpstr>ABSTRACT</vt:lpstr>
      <vt:lpstr>EXISTING SYSTEM</vt:lpstr>
      <vt:lpstr>PROPOSED SYSTEM</vt:lpstr>
      <vt:lpstr>SYSTEM REQUIREMENTS</vt:lpstr>
      <vt:lpstr>SYSTEM ARCHITECTURE</vt:lpstr>
      <vt:lpstr>LIST OF MODELES</vt:lpstr>
      <vt:lpstr>STAFF MODULE</vt:lpstr>
      <vt:lpstr>UPLOAD/DOWNLOAD VIDEOS</vt:lpstr>
      <vt:lpstr>UPLOAD/DOWNLOAD ASSIGNMENT</vt:lpstr>
      <vt:lpstr>Sample output</vt:lpstr>
      <vt:lpstr>Admin Login</vt:lpstr>
      <vt:lpstr>Add Faculty</vt:lpstr>
      <vt:lpstr>Add Students</vt:lpstr>
      <vt:lpstr>Faculty Login</vt:lpstr>
      <vt:lpstr>View All Department</vt:lpstr>
      <vt:lpstr>Add Announcement</vt:lpstr>
      <vt:lpstr>Add Course Material</vt:lpstr>
      <vt:lpstr>Students Login</vt:lpstr>
      <vt:lpstr>Students View Assignment Details</vt:lpstr>
      <vt:lpstr>After view assignment status</vt:lpstr>
      <vt:lpstr>Faculty Reply Discussion Content</vt:lpstr>
      <vt:lpstr>Faculty Take Attendance on Course Based</vt:lpstr>
      <vt:lpstr>CONCLUSION</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WATER QUALITY PREDICTION</dc:title>
  <dc:creator>Admin</dc:creator>
  <cp:lastModifiedBy>Microsoft account</cp:lastModifiedBy>
  <cp:revision>53</cp:revision>
  <dcterms:created xsi:type="dcterms:W3CDTF">2006-08-16T00:00:00Z</dcterms:created>
  <dcterms:modified xsi:type="dcterms:W3CDTF">2026-10-02T13:32:04Z</dcterms:modified>
</cp:coreProperties>
</file>